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ags/tag1.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4"/>
  </p:notesMasterIdLst>
  <p:handoutMasterIdLst>
    <p:handoutMasterId r:id="rId15"/>
  </p:handoutMasterIdLst>
  <p:sldIdLst>
    <p:sldId id="2147479342" r:id="rId5"/>
    <p:sldId id="2147479318" r:id="rId6"/>
    <p:sldId id="2147479319" r:id="rId7"/>
    <p:sldId id="2147479312" r:id="rId8"/>
    <p:sldId id="327" r:id="rId9"/>
    <p:sldId id="2147479320" r:id="rId10"/>
    <p:sldId id="2147479299" r:id="rId11"/>
    <p:sldId id="799" r:id="rId12"/>
    <p:sldId id="214747931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1"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4881"/>
    <a:srgbClr val="FF0000"/>
    <a:srgbClr val="FF6400"/>
    <a:srgbClr val="228B22"/>
    <a:srgbClr val="A020F6"/>
    <a:srgbClr val="0000FF"/>
    <a:srgbClr val="636569"/>
    <a:srgbClr val="715091"/>
    <a:srgbClr val="176DAD"/>
    <a:srgbClr val="0D78C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46B4B66-B511-4A07-A072-7BC7D201CC1D}" v="3" dt="2026-07-12T11:00:47.476"/>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58"/>
  </p:normalViewPr>
  <p:slideViewPr>
    <p:cSldViewPr snapToGrid="0">
      <p:cViewPr varScale="1">
        <p:scale>
          <a:sx n="74" d="100"/>
          <a:sy n="74" d="100"/>
        </p:scale>
        <p:origin x="376" y="36"/>
      </p:cViewPr>
      <p:guideLst>
        <p:guide orient="horz" pos="2160"/>
        <p:guide pos="3841"/>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theme" Target="theme/theme1.xml"/><Relationship Id="rId3" Type="http://schemas.openxmlformats.org/officeDocument/2006/relationships/customXml" Target="../customXml/item3.xml"/><Relationship Id="rId21" Type="http://schemas.microsoft.com/office/2015/10/relationships/revisionInfo" Target="revisionInfo.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viewProps" Target="viewProps.xml"/><Relationship Id="rId2" Type="http://schemas.openxmlformats.org/officeDocument/2006/relationships/customXml" Target="../customXml/item2.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5" Type="http://schemas.openxmlformats.org/officeDocument/2006/relationships/slide" Target="slides/slide1.xml"/><Relationship Id="rId15" Type="http://schemas.openxmlformats.org/officeDocument/2006/relationships/handoutMaster" Target="handoutMasters/handoutMaster1.xml"/><Relationship Id="rId10" Type="http://schemas.openxmlformats.org/officeDocument/2006/relationships/slide" Target="slides/slide6.xml"/><Relationship Id="rId19"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ekhar Sekharan" userId="518baa86-29dc-48c7-8fb2-d35a916cb510" providerId="ADAL" clId="{AEBB8E91-64A1-4D9B-AA4C-D40DB5207DB8}"/>
    <pc:docChg chg="custSel addSld delSld modSld">
      <pc:chgData name="Sekhar Sekharan" userId="518baa86-29dc-48c7-8fb2-d35a916cb510" providerId="ADAL" clId="{AEBB8E91-64A1-4D9B-AA4C-D40DB5207DB8}" dt="2026-07-12T11:28:30.137" v="183" actId="478"/>
      <pc:docMkLst>
        <pc:docMk/>
      </pc:docMkLst>
      <pc:sldChg chg="modSp del mod">
        <pc:chgData name="Sekhar Sekharan" userId="518baa86-29dc-48c7-8fb2-d35a916cb510" providerId="ADAL" clId="{AEBB8E91-64A1-4D9B-AA4C-D40DB5207DB8}" dt="2026-07-12T11:01:02.149" v="111" actId="47"/>
        <pc:sldMkLst>
          <pc:docMk/>
          <pc:sldMk cId="0" sldId="256"/>
        </pc:sldMkLst>
      </pc:sldChg>
      <pc:sldChg chg="modSp mod">
        <pc:chgData name="Sekhar Sekharan" userId="518baa86-29dc-48c7-8fb2-d35a916cb510" providerId="ADAL" clId="{AEBB8E91-64A1-4D9B-AA4C-D40DB5207DB8}" dt="2026-07-11T03:26:24.648" v="39" actId="14100"/>
        <pc:sldMkLst>
          <pc:docMk/>
          <pc:sldMk cId="0" sldId="2147479318"/>
        </pc:sldMkLst>
        <pc:spChg chg="mod">
          <ac:chgData name="Sekhar Sekharan" userId="518baa86-29dc-48c7-8fb2-d35a916cb510" providerId="ADAL" clId="{AEBB8E91-64A1-4D9B-AA4C-D40DB5207DB8}" dt="2026-07-10T13:12:27.207" v="1" actId="255"/>
          <ac:spMkLst>
            <pc:docMk/>
            <pc:sldMk cId="0" sldId="2147479318"/>
            <ac:spMk id="2" creationId="{00000000-0000-0000-0000-000000000000}"/>
          </ac:spMkLst>
        </pc:spChg>
        <pc:spChg chg="mod">
          <ac:chgData name="Sekhar Sekharan" userId="518baa86-29dc-48c7-8fb2-d35a916cb510" providerId="ADAL" clId="{AEBB8E91-64A1-4D9B-AA4C-D40DB5207DB8}" dt="2026-07-10T13:12:39.538" v="4" actId="1076"/>
          <ac:spMkLst>
            <pc:docMk/>
            <pc:sldMk cId="0" sldId="2147479318"/>
            <ac:spMk id="3" creationId="{00000000-0000-0000-0000-000000000000}"/>
          </ac:spMkLst>
        </pc:spChg>
        <pc:spChg chg="mod">
          <ac:chgData name="Sekhar Sekharan" userId="518baa86-29dc-48c7-8fb2-d35a916cb510" providerId="ADAL" clId="{AEBB8E91-64A1-4D9B-AA4C-D40DB5207DB8}" dt="2026-07-11T03:26:24.648" v="39" actId="14100"/>
          <ac:spMkLst>
            <pc:docMk/>
            <pc:sldMk cId="0" sldId="2147479318"/>
            <ac:spMk id="4" creationId="{00000000-0000-0000-0000-000000000000}"/>
          </ac:spMkLst>
        </pc:spChg>
        <pc:spChg chg="mod">
          <ac:chgData name="Sekhar Sekharan" userId="518baa86-29dc-48c7-8fb2-d35a916cb510" providerId="ADAL" clId="{AEBB8E91-64A1-4D9B-AA4C-D40DB5207DB8}" dt="2026-07-10T13:16:30.596" v="36" actId="1076"/>
          <ac:spMkLst>
            <pc:docMk/>
            <pc:sldMk cId="0" sldId="2147479318"/>
            <ac:spMk id="11" creationId="{00000000-0000-0000-0000-000000000000}"/>
          </ac:spMkLst>
        </pc:spChg>
      </pc:sldChg>
      <pc:sldChg chg="delSp modSp mod">
        <pc:chgData name="Sekhar Sekharan" userId="518baa86-29dc-48c7-8fb2-d35a916cb510" providerId="ADAL" clId="{AEBB8E91-64A1-4D9B-AA4C-D40DB5207DB8}" dt="2026-07-11T03:26:50.605" v="41" actId="255"/>
        <pc:sldMkLst>
          <pc:docMk/>
          <pc:sldMk cId="0" sldId="2147479319"/>
        </pc:sldMkLst>
        <pc:spChg chg="mod">
          <ac:chgData name="Sekhar Sekharan" userId="518baa86-29dc-48c7-8fb2-d35a916cb510" providerId="ADAL" clId="{AEBB8E91-64A1-4D9B-AA4C-D40DB5207DB8}" dt="2026-07-11T03:26:50.605" v="41" actId="255"/>
          <ac:spMkLst>
            <pc:docMk/>
            <pc:sldMk cId="0" sldId="2147479319"/>
            <ac:spMk id="2" creationId="{00000000-0000-0000-0000-000000000000}"/>
          </ac:spMkLst>
        </pc:spChg>
        <pc:spChg chg="mod">
          <ac:chgData name="Sekhar Sekharan" userId="518baa86-29dc-48c7-8fb2-d35a916cb510" providerId="ADAL" clId="{AEBB8E91-64A1-4D9B-AA4C-D40DB5207DB8}" dt="2026-07-10T13:15:52.413" v="35" actId="14100"/>
          <ac:spMkLst>
            <pc:docMk/>
            <pc:sldMk cId="0" sldId="2147479319"/>
            <ac:spMk id="4" creationId="{00000000-0000-0000-0000-000000000000}"/>
          </ac:spMkLst>
        </pc:spChg>
        <pc:spChg chg="mod">
          <ac:chgData name="Sekhar Sekharan" userId="518baa86-29dc-48c7-8fb2-d35a916cb510" providerId="ADAL" clId="{AEBB8E91-64A1-4D9B-AA4C-D40DB5207DB8}" dt="2026-07-10T13:14:36.755" v="32" actId="1076"/>
          <ac:spMkLst>
            <pc:docMk/>
            <pc:sldMk cId="0" sldId="2147479319"/>
            <ac:spMk id="8" creationId="{00000000-0000-0000-0000-000000000000}"/>
          </ac:spMkLst>
        </pc:spChg>
        <pc:spChg chg="mod">
          <ac:chgData name="Sekhar Sekharan" userId="518baa86-29dc-48c7-8fb2-d35a916cb510" providerId="ADAL" clId="{AEBB8E91-64A1-4D9B-AA4C-D40DB5207DB8}" dt="2026-07-10T13:13:47.905" v="24" actId="20577"/>
          <ac:spMkLst>
            <pc:docMk/>
            <pc:sldMk cId="0" sldId="2147479319"/>
            <ac:spMk id="11" creationId="{00000000-0000-0000-0000-000000000000}"/>
          </ac:spMkLst>
        </pc:spChg>
        <pc:picChg chg="mod">
          <ac:chgData name="Sekhar Sekharan" userId="518baa86-29dc-48c7-8fb2-d35a916cb510" providerId="ADAL" clId="{AEBB8E91-64A1-4D9B-AA4C-D40DB5207DB8}" dt="2026-07-10T13:14:31.198" v="31" actId="1076"/>
          <ac:picMkLst>
            <pc:docMk/>
            <pc:sldMk cId="0" sldId="2147479319"/>
            <ac:picMk id="7" creationId="{00000000-0000-0000-0000-000000000000}"/>
          </ac:picMkLst>
        </pc:picChg>
      </pc:sldChg>
      <pc:sldChg chg="addSp delSp modSp new mod modClrScheme chgLayout">
        <pc:chgData name="Sekhar Sekharan" userId="518baa86-29dc-48c7-8fb2-d35a916cb510" providerId="ADAL" clId="{AEBB8E91-64A1-4D9B-AA4C-D40DB5207DB8}" dt="2026-07-11T03:28:14.423" v="108"/>
        <pc:sldMkLst>
          <pc:docMk/>
          <pc:sldMk cId="1601121871" sldId="2147479320"/>
        </pc:sldMkLst>
        <pc:spChg chg="del mod ord">
          <ac:chgData name="Sekhar Sekharan" userId="518baa86-29dc-48c7-8fb2-d35a916cb510" providerId="ADAL" clId="{AEBB8E91-64A1-4D9B-AA4C-D40DB5207DB8}" dt="2026-07-11T03:27:24.863" v="43" actId="700"/>
          <ac:spMkLst>
            <pc:docMk/>
            <pc:sldMk cId="1601121871" sldId="2147479320"/>
            <ac:spMk id="2" creationId="{00EC0479-7087-1BC9-61D4-5ED0453FA3D9}"/>
          </ac:spMkLst>
        </pc:spChg>
        <pc:spChg chg="del">
          <ac:chgData name="Sekhar Sekharan" userId="518baa86-29dc-48c7-8fb2-d35a916cb510" providerId="ADAL" clId="{AEBB8E91-64A1-4D9B-AA4C-D40DB5207DB8}" dt="2026-07-11T03:27:24.863" v="43" actId="700"/>
          <ac:spMkLst>
            <pc:docMk/>
            <pc:sldMk cId="1601121871" sldId="2147479320"/>
            <ac:spMk id="3" creationId="{F1A36B81-82A0-FE61-7269-9004209E8A78}"/>
          </ac:spMkLst>
        </pc:spChg>
        <pc:spChg chg="del">
          <ac:chgData name="Sekhar Sekharan" userId="518baa86-29dc-48c7-8fb2-d35a916cb510" providerId="ADAL" clId="{AEBB8E91-64A1-4D9B-AA4C-D40DB5207DB8}" dt="2026-07-11T03:27:24.863" v="43" actId="700"/>
          <ac:spMkLst>
            <pc:docMk/>
            <pc:sldMk cId="1601121871" sldId="2147479320"/>
            <ac:spMk id="4" creationId="{B66A4070-B258-FEAF-4068-B36B28D1769D}"/>
          </ac:spMkLst>
        </pc:spChg>
        <pc:spChg chg="add mod ord">
          <ac:chgData name="Sekhar Sekharan" userId="518baa86-29dc-48c7-8fb2-d35a916cb510" providerId="ADAL" clId="{AEBB8E91-64A1-4D9B-AA4C-D40DB5207DB8}" dt="2026-07-11T03:28:14.423" v="108"/>
          <ac:spMkLst>
            <pc:docMk/>
            <pc:sldMk cId="1601121871" sldId="2147479320"/>
            <ac:spMk id="5" creationId="{633BF3F1-772B-A92E-615C-FB7261D595D5}"/>
          </ac:spMkLst>
        </pc:spChg>
      </pc:sldChg>
      <pc:sldChg chg="addSp delSp modSp add mod">
        <pc:chgData name="Sekhar Sekharan" userId="518baa86-29dc-48c7-8fb2-d35a916cb510" providerId="ADAL" clId="{AEBB8E91-64A1-4D9B-AA4C-D40DB5207DB8}" dt="2026-07-12T11:28:30.137" v="183" actId="478"/>
        <pc:sldMkLst>
          <pc:docMk/>
          <pc:sldMk cId="3426075837" sldId="2147479342"/>
        </pc:sldMkLst>
        <pc:spChg chg="add del mod">
          <ac:chgData name="Sekhar Sekharan" userId="518baa86-29dc-48c7-8fb2-d35a916cb510" providerId="ADAL" clId="{AEBB8E91-64A1-4D9B-AA4C-D40DB5207DB8}" dt="2026-07-12T11:28:30.137" v="183" actId="478"/>
          <ac:spMkLst>
            <pc:docMk/>
            <pc:sldMk cId="3426075837" sldId="2147479342"/>
            <ac:spMk id="9" creationId="{14D85D97-3A72-A7E1-45F2-54C56E585A90}"/>
          </ac:spMkLst>
        </pc:spChg>
        <pc:spChg chg="mod">
          <ac:chgData name="Sekhar Sekharan" userId="518baa86-29dc-48c7-8fb2-d35a916cb510" providerId="ADAL" clId="{AEBB8E91-64A1-4D9B-AA4C-D40DB5207DB8}" dt="2026-07-12T11:04:15.166" v="170" actId="114"/>
          <ac:spMkLst>
            <pc:docMk/>
            <pc:sldMk cId="3426075837" sldId="2147479342"/>
            <ac:spMk id="64" creationId="{1C84F14F-1D05-5B1B-47CE-30CFA91987FB}"/>
          </ac:spMkLst>
        </pc:spChg>
        <pc:spChg chg="mod">
          <ac:chgData name="Sekhar Sekharan" userId="518baa86-29dc-48c7-8fb2-d35a916cb510" providerId="ADAL" clId="{AEBB8E91-64A1-4D9B-AA4C-D40DB5207DB8}" dt="2026-07-12T11:01:31.284" v="137" actId="20577"/>
          <ac:spMkLst>
            <pc:docMk/>
            <pc:sldMk cId="3426075837" sldId="2147479342"/>
            <ac:spMk id="67" creationId="{52F103B3-30FD-C7B8-A57B-43632D65B94A}"/>
          </ac:spMkLst>
        </pc:spChg>
        <pc:spChg chg="mod">
          <ac:chgData name="Sekhar Sekharan" userId="518baa86-29dc-48c7-8fb2-d35a916cb510" providerId="ADAL" clId="{AEBB8E91-64A1-4D9B-AA4C-D40DB5207DB8}" dt="2026-07-12T11:01:49.592" v="168" actId="20577"/>
          <ac:spMkLst>
            <pc:docMk/>
            <pc:sldMk cId="3426075837" sldId="2147479342"/>
            <ac:spMk id="68" creationId="{05C4B185-9404-89D3-0040-15B21D3A9E4F}"/>
          </ac:spMkLst>
        </pc:spChg>
        <pc:picChg chg="del">
          <ac:chgData name="Sekhar Sekharan" userId="518baa86-29dc-48c7-8fb2-d35a916cb510" providerId="ADAL" clId="{AEBB8E91-64A1-4D9B-AA4C-D40DB5207DB8}" dt="2026-07-12T11:23:55.770" v="172" actId="478"/>
          <ac:picMkLst>
            <pc:docMk/>
            <pc:sldMk cId="3426075837" sldId="2147479342"/>
            <ac:picMk id="5" creationId="{176B3799-0CEC-D9A5-BA26-116F4D0A4544}"/>
          </ac:picMkLst>
        </pc:picChg>
        <pc:picChg chg="add del mod">
          <ac:chgData name="Sekhar Sekharan" userId="518baa86-29dc-48c7-8fb2-d35a916cb510" providerId="ADAL" clId="{AEBB8E91-64A1-4D9B-AA4C-D40DB5207DB8}" dt="2026-07-12T11:25:54.322" v="175" actId="478"/>
          <ac:picMkLst>
            <pc:docMk/>
            <pc:sldMk cId="3426075837" sldId="2147479342"/>
            <ac:picMk id="6" creationId="{6F3BA1CA-5B33-0D33-4456-4110FDFC91D6}"/>
          </ac:picMkLst>
        </pc:picChg>
        <pc:picChg chg="add mod">
          <ac:chgData name="Sekhar Sekharan" userId="518baa86-29dc-48c7-8fb2-d35a916cb510" providerId="ADAL" clId="{AEBB8E91-64A1-4D9B-AA4C-D40DB5207DB8}" dt="2026-07-12T11:26:02.448" v="176" actId="1076"/>
          <ac:picMkLst>
            <pc:docMk/>
            <pc:sldMk cId="3426075837" sldId="2147479342"/>
            <ac:picMk id="8" creationId="{01D7FB08-1D01-E735-3972-89BF269801C5}"/>
          </ac:picMkLst>
        </pc:pic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F993C83-2184-4286-ABE1-941A40B40C8F}" type="datetimeFigureOut">
              <a:rPr lang="en-US" smtClean="0"/>
              <a:pPr/>
              <a:t>7/12/2026</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F7603001-E0F2-47E5-A338-816CC267AF60}" type="slidenum">
              <a:rPr lang="en-US" smtClean="0"/>
              <a:pPr/>
              <a:t>‹#›</a:t>
            </a:fld>
            <a:endParaRPr lang="en-US"/>
          </a:p>
        </p:txBody>
      </p:sp>
    </p:spTree>
    <p:extLst>
      <p:ext uri="{BB962C8B-B14F-4D97-AF65-F5344CB8AC3E}">
        <p14:creationId xmlns:p14="http://schemas.microsoft.com/office/powerpoint/2010/main" val="21536578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053241F-7ED4-45AC-844C-15DB0D5F9CCD}" type="datetimeFigureOut">
              <a:rPr lang="en-US" smtClean="0"/>
              <a:pPr/>
              <a:t>7/12/2026</a:t>
            </a:fld>
            <a:endParaRPr lang="en-US"/>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AD73B8C3-A209-4A55-9261-22C2A02B3159}" type="slidenum">
              <a:rPr lang="en-US" smtClean="0"/>
              <a:pPr/>
              <a:t>‹#›</a:t>
            </a:fld>
            <a:endParaRPr lang="en-US"/>
          </a:p>
        </p:txBody>
      </p:sp>
    </p:spTree>
    <p:extLst>
      <p:ext uri="{BB962C8B-B14F-4D97-AF65-F5344CB8AC3E}">
        <p14:creationId xmlns:p14="http://schemas.microsoft.com/office/powerpoint/2010/main" val="17440815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mmwavetech.fujikura.jp/img/5g/MW96-11-22-0008(11)_Type-C_Brochure.pdf" TargetMode="External"/><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D21F3D-66D1-B4B2-C73E-4EF2AEA294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530D5C7-16F5-1723-DDD0-96F45A1F2B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47043DD-12F9-B5A6-2D22-EB8F4C3C10FD}"/>
              </a:ext>
            </a:extLst>
          </p:cNvPr>
          <p:cNvSpPr>
            <a:spLocks noGrp="1"/>
          </p:cNvSpPr>
          <p:nvPr>
            <p:ph type="body" idx="1"/>
          </p:nvPr>
        </p:nvSpPr>
        <p:spPr/>
        <p:txBody>
          <a:bodyPr>
            <a:normAutofit/>
          </a:bodyPr>
          <a:lstStyle/>
          <a:p>
            <a:r>
              <a:rPr lang="en-US" sz="1200" b="0" kern="1200">
                <a:solidFill>
                  <a:schemeClr val="tx1"/>
                </a:solidFill>
                <a:effectLst/>
                <a:latin typeface="+mn-lt"/>
                <a:ea typeface="+mn-ea"/>
                <a:cs typeface="+mn-cs"/>
              </a:rPr>
              <a:t>Build the RF digital twin of a beamformer from OTA measurements and with hardware knowledge coming from the datasheet.</a:t>
            </a:r>
          </a:p>
          <a:p>
            <a:r>
              <a:rPr lang="en-US" sz="1200" b="0" kern="1200">
                <a:solidFill>
                  <a:schemeClr val="tx1"/>
                </a:solidFill>
                <a:effectLst/>
                <a:latin typeface="+mn-lt"/>
                <a:ea typeface="+mn-ea"/>
                <a:cs typeface="+mn-cs"/>
              </a:rPr>
              <a:t>Use the digital twin for system-level integration and exploration of different applications.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a:solidFill>
                  <a:srgbClr val="00A9E0"/>
                </a:solidFill>
                <a:latin typeface="Arial" panose="020B0604020202020204" pitchFamily="34" charset="0"/>
                <a:cs typeface="Arial" panose="020B0604020202020204" pitchFamily="34" charset="0"/>
              </a:rPr>
              <a:t>This work is based on the model of the Fujikura Type-C PAAM integrated beamformer:</a:t>
            </a:r>
          </a:p>
          <a:p>
            <a:pPr marL="0" marR="0" lvl="0" indent="0" algn="l" defTabSz="914400" rtl="0" eaLnBrk="1" fontAlgn="auto" latinLnBrk="0" hangingPunct="1">
              <a:lnSpc>
                <a:spcPct val="100000"/>
              </a:lnSpc>
              <a:spcBef>
                <a:spcPts val="0"/>
              </a:spcBef>
              <a:spcAft>
                <a:spcPts val="0"/>
              </a:spcAft>
              <a:buClrTx/>
              <a:buSzTx/>
              <a:buFontTx/>
              <a:buNone/>
              <a:tabLst/>
              <a:defRPr/>
            </a:pPr>
            <a:r>
              <a:rPr lang="fr-FR">
                <a:hlinkClick r:id="rId3"/>
              </a:rPr>
              <a:t>MW96-11-22-0008(11)_Type-C_Brochure.pdf</a:t>
            </a:r>
            <a:endParaRPr lang="en-US" b="0" i="0">
              <a:solidFill>
                <a:srgbClr val="00A9E0"/>
              </a:solidFill>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D6C4A422-5796-76F8-23C2-AE20B6C35024}"/>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A5EFE56-2268-E243-B780-39B09C57B43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60380361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6D9B3-CD65-5807-3570-D406EF3A8F9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5825EE-2904-0A57-FB37-00B198192B6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1C24B40-6A8C-5117-DABB-BFEC14719BF9}"/>
              </a:ext>
            </a:extLst>
          </p:cNvPr>
          <p:cNvSpPr>
            <a:spLocks noGrp="1"/>
          </p:cNvSpPr>
          <p:nvPr>
            <p:ph type="body" idx="1"/>
          </p:nvPr>
        </p:nvSpPr>
        <p:spPr/>
        <p:txBody>
          <a:bodyPr>
            <a:normAutofit fontScale="92500"/>
          </a:bodyPr>
          <a:lstStyle/>
          <a:p>
            <a:pPr>
              <a:defRPr/>
            </a:pPr>
            <a:r>
              <a:rPr lang="en-US" dirty="0">
                <a:solidFill>
                  <a:srgbClr val="374151"/>
                </a:solidFill>
              </a:rPr>
              <a:t>In Antenna Toolbox, you have found already for many years a</a:t>
            </a:r>
            <a:r>
              <a:rPr lang="en-US" b="1" dirty="0">
                <a:solidFill>
                  <a:srgbClr val="374151"/>
                </a:solidFill>
              </a:rPr>
              <a:t> surrogate based optimization method named SADEA </a:t>
            </a:r>
            <a:r>
              <a:rPr lang="en-US" dirty="0">
                <a:solidFill>
                  <a:srgbClr val="374151"/>
                </a:solidFill>
              </a:rPr>
              <a:t>developed in collaboration with prof. Bo Liu, from Univ. Glasgow.</a:t>
            </a:r>
          </a:p>
          <a:p>
            <a:pPr>
              <a:defRPr/>
            </a:pPr>
            <a:endParaRPr lang="en-US" dirty="0">
              <a:solidFill>
                <a:srgbClr val="374151"/>
              </a:solidFill>
            </a:endParaRPr>
          </a:p>
          <a:p>
            <a:pPr marL="0" marR="0" lvl="0" indent="0" algn="l" defTabSz="914400">
              <a:lnSpc>
                <a:spcPct val="100000"/>
              </a:lnSpc>
              <a:spcBef>
                <a:spcPts val="0"/>
              </a:spcBef>
              <a:spcAft>
                <a:spcPts val="0"/>
              </a:spcAft>
              <a:buClrTx/>
              <a:buSzTx/>
              <a:buFontTx/>
              <a:buNone/>
              <a:tabLst/>
              <a:defRPr/>
            </a:pPr>
            <a:r>
              <a:rPr lang="en-US" dirty="0">
                <a:solidFill>
                  <a:srgbClr val="374151"/>
                </a:solidFill>
                <a:latin typeface="__Inter_aaf875"/>
              </a:rPr>
              <a:t>Surrogate-based</a:t>
            </a:r>
            <a:r>
              <a:rPr lang="en-US" b="0" i="0" dirty="0">
                <a:solidFill>
                  <a:srgbClr val="374151"/>
                </a:solidFill>
                <a:effectLst/>
                <a:latin typeface="__Inter_aaf875"/>
              </a:rPr>
              <a:t> optimization utilize AI models that learn subsets of the design space as one proceeds along an optimization search curve. AI on the fly.</a:t>
            </a:r>
            <a:r>
              <a:rPr lang="en-US" b="0" i="0" dirty="0">
                <a:solidFill>
                  <a:srgbClr val="374151"/>
                </a:solidFill>
                <a:effectLst/>
                <a:latin typeface="+mn-lt"/>
                <a:ea typeface="+mn-ea"/>
                <a:cs typeface="+mn-cs"/>
              </a:rPr>
              <a:t> The art of these technique is on how the design space is sampled in order to create the surface response.</a:t>
            </a:r>
            <a:endParaRPr lang="en-US" b="1" dirty="0">
              <a:solidFill>
                <a:srgbClr val="212121"/>
              </a:solidFill>
              <a:latin typeface="Roboto" panose="02000000000000000000" pitchFamily="2" charset="0"/>
              <a:ea typeface="Roboto" panose="02000000000000000000" pitchFamily="2" charset="0"/>
              <a:cs typeface="Roboto" panose="02000000000000000000" pitchFamily="2" charset="0"/>
            </a:endParaRPr>
          </a:p>
          <a:p>
            <a:pPr marL="228600" indent="-228600" algn="l">
              <a:buFont typeface="+mj-lt"/>
              <a:buAutoNum type="arabicPeriod"/>
            </a:pPr>
            <a:r>
              <a:rPr lang="en-US" b="1" i="0" dirty="0">
                <a:solidFill>
                  <a:srgbClr val="212121"/>
                </a:solidFill>
                <a:effectLst/>
                <a:latin typeface="Roboto"/>
                <a:ea typeface="Roboto"/>
                <a:cs typeface="Roboto"/>
              </a:rPr>
              <a:t>Iteration steps</a:t>
            </a:r>
          </a:p>
          <a:p>
            <a:pPr marL="685800" lvl="1" indent="-228600" algn="l">
              <a:buFont typeface="+mj-lt"/>
              <a:buAutoNum type="arabicPeriod"/>
            </a:pPr>
            <a:r>
              <a:rPr lang="en-US" b="0" i="0" dirty="0">
                <a:solidFill>
                  <a:srgbClr val="212121"/>
                </a:solidFill>
                <a:effectLst/>
                <a:latin typeface="Roboto"/>
                <a:ea typeface="Roboto"/>
                <a:cs typeface="Roboto"/>
              </a:rPr>
              <a:t>Select the best candidate designs to form a population </a:t>
            </a:r>
            <a:r>
              <a:rPr lang="en-US" b="0" i="1" dirty="0">
                <a:solidFill>
                  <a:srgbClr val="212121"/>
                </a:solidFill>
                <a:effectLst/>
                <a:latin typeface="STIXGeneral"/>
              </a:rPr>
              <a:t>P</a:t>
            </a:r>
            <a:r>
              <a:rPr lang="en-US" b="0" i="0" dirty="0">
                <a:solidFill>
                  <a:srgbClr val="212121"/>
                </a:solidFill>
                <a:effectLst/>
                <a:latin typeface="Roboto"/>
                <a:ea typeface="Roboto"/>
                <a:cs typeface="Roboto"/>
              </a:rPr>
              <a:t>. </a:t>
            </a:r>
          </a:p>
          <a:p>
            <a:pPr marL="685800" lvl="1" indent="-228600" algn="l">
              <a:buFont typeface="+mj-lt"/>
              <a:buAutoNum type="arabicPeriod"/>
            </a:pPr>
            <a:r>
              <a:rPr lang="en-US" b="0" i="0" dirty="0">
                <a:solidFill>
                  <a:srgbClr val="212121"/>
                </a:solidFill>
                <a:effectLst/>
                <a:latin typeface="Roboto"/>
                <a:ea typeface="Roboto"/>
                <a:cs typeface="Roboto"/>
              </a:rPr>
              <a:t>Apply the differential evolution to generate λ child solutions.</a:t>
            </a:r>
          </a:p>
          <a:p>
            <a:pPr marL="685800" lvl="1" indent="-228600" algn="l">
              <a:buFont typeface="+mj-lt"/>
              <a:buAutoNum type="arabicPeriod"/>
            </a:pPr>
            <a:r>
              <a:rPr lang="en-US" b="0" i="0" dirty="0">
                <a:solidFill>
                  <a:srgbClr val="212121"/>
                </a:solidFill>
                <a:effectLst/>
                <a:latin typeface="Roboto"/>
                <a:ea typeface="Roboto"/>
                <a:cs typeface="Roboto"/>
              </a:rPr>
              <a:t>For each child solution, the nearest design sample is used as a training data point to construct a local Gaussian process surrogate model. </a:t>
            </a:r>
          </a:p>
          <a:p>
            <a:pPr marL="685800" lvl="1" indent="-228600" algn="l">
              <a:buFont typeface="+mj-lt"/>
              <a:buAutoNum type="arabicPeriod"/>
            </a:pPr>
            <a:r>
              <a:rPr lang="en-US" b="0" i="0" dirty="0">
                <a:solidFill>
                  <a:srgbClr val="212121"/>
                </a:solidFill>
                <a:effectLst/>
                <a:latin typeface="Roboto"/>
                <a:ea typeface="Roboto"/>
                <a:cs typeface="Roboto"/>
              </a:rPr>
              <a:t>Carry out an EM simulation to the best child solution, add this simulated candidate design and its function value to the database.</a:t>
            </a:r>
          </a:p>
          <a:p>
            <a:pPr marL="228600" lvl="0" indent="-228600" algn="l">
              <a:buFont typeface="+mj-lt"/>
              <a:buAutoNum type="arabicPeriod"/>
            </a:pPr>
            <a:r>
              <a:rPr lang="en-US" b="1" i="0" dirty="0">
                <a:solidFill>
                  <a:srgbClr val="212121"/>
                </a:solidFill>
                <a:effectLst/>
                <a:latin typeface="Roboto"/>
                <a:ea typeface="Roboto"/>
                <a:cs typeface="Roboto"/>
              </a:rPr>
              <a:t>Stopping criteria</a:t>
            </a:r>
            <a:endParaRPr lang="en-US" b="0" i="0" dirty="0">
              <a:solidFill>
                <a:srgbClr val="212121"/>
              </a:solidFill>
              <a:effectLst/>
              <a:latin typeface="Roboto"/>
              <a:ea typeface="Roboto"/>
              <a:cs typeface="Roboto"/>
            </a:endParaRPr>
          </a:p>
          <a:p>
            <a:pPr marL="685800" lvl="1" indent="-228600" algn="l">
              <a:buFont typeface="+mj-lt"/>
              <a:buAutoNum type="arabicPeriod"/>
            </a:pPr>
            <a:r>
              <a:rPr lang="en-US" b="0" i="0" dirty="0">
                <a:solidFill>
                  <a:srgbClr val="212121"/>
                </a:solidFill>
                <a:effectLst/>
                <a:latin typeface="Roboto"/>
                <a:ea typeface="Roboto"/>
                <a:cs typeface="Roboto"/>
              </a:rPr>
              <a:t>The specification(s) is (are) met.</a:t>
            </a:r>
          </a:p>
          <a:p>
            <a:pPr marL="685800" lvl="1" indent="-228600" algn="l">
              <a:buFont typeface="+mj-lt"/>
              <a:buAutoNum type="arabicPeriod"/>
            </a:pPr>
            <a:r>
              <a:rPr lang="en-US" b="0" i="0" dirty="0">
                <a:solidFill>
                  <a:srgbClr val="212121"/>
                </a:solidFill>
                <a:effectLst/>
                <a:latin typeface="Roboto"/>
                <a:ea typeface="Roboto"/>
                <a:cs typeface="Roboto"/>
              </a:rPr>
              <a:t>The standard deviation of the population is smaller than a threshold and the current best objective function value does not improve for a certain number of iterations. (It is better to be controlled using the figure displaying the convergence trend).</a:t>
            </a:r>
          </a:p>
          <a:p>
            <a:pPr marL="685800" lvl="1" indent="-228600" algn="l">
              <a:buFont typeface="+mj-lt"/>
              <a:buAutoNum type="arabicPeriod"/>
            </a:pPr>
            <a:r>
              <a:rPr lang="en-US" b="0" i="0" dirty="0">
                <a:solidFill>
                  <a:srgbClr val="212121"/>
                </a:solidFill>
                <a:effectLst/>
                <a:latin typeface="Roboto"/>
                <a:ea typeface="Roboto"/>
                <a:cs typeface="Roboto"/>
              </a:rPr>
              <a:t>The computing budget (the number of EM simulations) is exhausted. Note that the number of EM simulations can be added anytime.</a:t>
            </a:r>
          </a:p>
        </p:txBody>
      </p:sp>
      <p:sp>
        <p:nvSpPr>
          <p:cNvPr id="4" name="Slide Number Placeholder 3">
            <a:extLst>
              <a:ext uri="{FF2B5EF4-FFF2-40B4-BE49-F238E27FC236}">
                <a16:creationId xmlns:a16="http://schemas.microsoft.com/office/drawing/2014/main" id="{D92D38D5-C33A-7627-7A19-9BBA8F92E6F7}"/>
              </a:ext>
            </a:extLst>
          </p:cNvPr>
          <p:cNvSpPr>
            <a:spLocks noGrp="1"/>
          </p:cNvSpPr>
          <p:nvPr>
            <p:ph type="sldNum" sz="quarter" idx="5"/>
          </p:nvPr>
        </p:nvSpPr>
        <p:spPr/>
        <p:txBody>
          <a:bodyPr/>
          <a:lstStyle/>
          <a:p>
            <a:fld id="{AD73B8C3-A209-4A55-9261-22C2A02B3159}" type="slidenum">
              <a:rPr lang="en-US" smtClean="0"/>
              <a:pPr/>
              <a:t>4</a:t>
            </a:fld>
            <a:endParaRPr lang="en-US"/>
          </a:p>
        </p:txBody>
      </p:sp>
    </p:spTree>
    <p:extLst>
      <p:ext uri="{BB962C8B-B14F-4D97-AF65-F5344CB8AC3E}">
        <p14:creationId xmlns:p14="http://schemas.microsoft.com/office/powerpoint/2010/main" val="11094313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EF2597-F91E-C756-6B86-01E0538B895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030E1C7-87FC-8B89-2590-C7A21DD6A2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90B7890-3D46-5803-93E6-02072C7CCE72}"/>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0" i="0" dirty="0">
                <a:solidFill>
                  <a:srgbClr val="212121"/>
                </a:solidFill>
                <a:effectLst/>
                <a:latin typeface="Helvetica" panose="020B0604020202020204" pitchFamily="34" charset="0"/>
              </a:rPr>
              <a:t>Here is the one possible optimized Yagi-Uda design by SADEA. </a:t>
            </a:r>
          </a:p>
          <a:p>
            <a:pPr marL="0" marR="0" lvl="0" indent="0" algn="l" defTabSz="914400" rtl="0" eaLnBrk="1" fontAlgn="auto" latinLnBrk="0" hangingPunct="1">
              <a:lnSpc>
                <a:spcPct val="100000"/>
              </a:lnSpc>
              <a:spcBef>
                <a:spcPts val="0"/>
              </a:spcBef>
              <a:spcAft>
                <a:spcPts val="0"/>
              </a:spcAft>
              <a:buClrTx/>
              <a:buSzTx/>
              <a:buFont typeface="+mj-lt"/>
              <a:buNone/>
              <a:tabLst/>
              <a:defRPr/>
            </a:pPr>
            <a:r>
              <a:rPr lang="en-US" b="0" i="0" dirty="0">
                <a:solidFill>
                  <a:srgbClr val="212121"/>
                </a:solidFill>
                <a:effectLst/>
                <a:latin typeface="Helvetica" panose="020B0604020202020204" pitchFamily="34" charset="0"/>
              </a:rPr>
              <a:t>What is interesting here is that the obtained performance compares favorably with the performance of an actual Yagi-Uda antenna that operates at this frequency. In other words, the solution is feasible and makes sense!</a:t>
            </a:r>
          </a:p>
          <a:p>
            <a:pPr marL="0" indent="0">
              <a:buFont typeface="+mj-lt"/>
              <a:buNone/>
            </a:pPr>
            <a:endParaRPr lang="en-US" dirty="0"/>
          </a:p>
        </p:txBody>
      </p:sp>
      <p:sp>
        <p:nvSpPr>
          <p:cNvPr id="4" name="Slide Number Placeholder 3">
            <a:extLst>
              <a:ext uri="{FF2B5EF4-FFF2-40B4-BE49-F238E27FC236}">
                <a16:creationId xmlns:a16="http://schemas.microsoft.com/office/drawing/2014/main" id="{AAEAFE3B-3C80-69BC-5224-2C21EDB1D024}"/>
              </a:ext>
            </a:extLst>
          </p:cNvPr>
          <p:cNvSpPr>
            <a:spLocks noGrp="1"/>
          </p:cNvSpPr>
          <p:nvPr>
            <p:ph type="sldNum" sz="quarter" idx="5"/>
          </p:nvPr>
        </p:nvSpPr>
        <p:spPr/>
        <p:txBody>
          <a:bodyPr/>
          <a:lstStyle/>
          <a:p>
            <a:fld id="{AD73B8C3-A209-4A55-9261-22C2A02B3159}" type="slidenum">
              <a:rPr lang="en-US" smtClean="0"/>
              <a:pPr/>
              <a:t>5</a:t>
            </a:fld>
            <a:endParaRPr lang="en-US"/>
          </a:p>
        </p:txBody>
      </p:sp>
    </p:spTree>
    <p:extLst>
      <p:ext uri="{BB962C8B-B14F-4D97-AF65-F5344CB8AC3E}">
        <p14:creationId xmlns:p14="http://schemas.microsoft.com/office/powerpoint/2010/main" val="72320844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E6DE58-8FDD-C372-84C9-4124E35900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D3E78A1-9F75-4ECA-8F8A-56203605D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2C0C142-6006-CB32-4472-42E7D376B69D}"/>
              </a:ext>
            </a:extLst>
          </p:cNvPr>
          <p:cNvSpPr>
            <a:spLocks noGrp="1"/>
          </p:cNvSpPr>
          <p:nvPr>
            <p:ph type="body" idx="1"/>
          </p:nvPr>
        </p:nvSpPr>
        <p:spPr/>
        <p:txBody>
          <a:bodyPr/>
          <a:lstStyle/>
          <a:p>
            <a:r>
              <a:rPr lang="en-US" dirty="0"/>
              <a:t>But what if</a:t>
            </a:r>
            <a:r>
              <a:rPr lang="en-US" sz="1200" dirty="0"/>
              <a:t> you design antennas with a large number of design variables?</a:t>
            </a:r>
          </a:p>
          <a:p>
            <a:r>
              <a:rPr lang="en-US" sz="1200" dirty="0"/>
              <a:t>And you need to speed up antenna optimization even further?</a:t>
            </a:r>
          </a:p>
          <a:p>
            <a:r>
              <a:rPr lang="en-US" sz="1200" dirty="0"/>
              <a:t>Or you might be  you using CST or HFSS and would like to use MATLAB for optimization?</a:t>
            </a:r>
            <a:endParaRPr lang="LID4096" sz="1200" dirty="0"/>
          </a:p>
          <a:p>
            <a:endParaRPr lang="LID4096" dirty="0"/>
          </a:p>
        </p:txBody>
      </p:sp>
      <p:sp>
        <p:nvSpPr>
          <p:cNvPr id="4" name="Slide Number Placeholder 3">
            <a:extLst>
              <a:ext uri="{FF2B5EF4-FFF2-40B4-BE49-F238E27FC236}">
                <a16:creationId xmlns:a16="http://schemas.microsoft.com/office/drawing/2014/main" id="{DA68C59B-3D9A-EDC7-187F-085DF05E7711}"/>
              </a:ext>
            </a:extLst>
          </p:cNvPr>
          <p:cNvSpPr>
            <a:spLocks noGrp="1"/>
          </p:cNvSpPr>
          <p:nvPr>
            <p:ph type="sldNum" sz="quarter" idx="5"/>
          </p:nvPr>
        </p:nvSpPr>
        <p:spPr/>
        <p:txBody>
          <a:bodyPr/>
          <a:lstStyle/>
          <a:p>
            <a:fld id="{AD73B8C3-A209-4A55-9261-22C2A02B3159}" type="slidenum">
              <a:rPr lang="en-US" smtClean="0"/>
              <a:pPr/>
              <a:t>7</a:t>
            </a:fld>
            <a:endParaRPr lang="en-US"/>
          </a:p>
        </p:txBody>
      </p:sp>
    </p:spTree>
    <p:extLst>
      <p:ext uri="{BB962C8B-B14F-4D97-AF65-F5344CB8AC3E}">
        <p14:creationId xmlns:p14="http://schemas.microsoft.com/office/powerpoint/2010/main" val="21678120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defRPr/>
            </a:pPr>
            <a:r>
              <a:rPr lang="en-US" b="0" i="0" dirty="0">
                <a:solidFill>
                  <a:srgbClr val="212121"/>
                </a:solidFill>
                <a:effectLst/>
                <a:latin typeface="Roboto" panose="02000000000000000000" pitchFamily="2" charset="0"/>
              </a:rPr>
              <a:t>TR-SADEA is an enhanced version of the SADEA algorithm designed to further reduce the computational cost associated with the training of surrogate models. </a:t>
            </a:r>
          </a:p>
          <a:p>
            <a:pPr>
              <a:defRPr/>
            </a:pPr>
            <a:r>
              <a:rPr lang="en-US" b="0" i="0" dirty="0">
                <a:solidFill>
                  <a:srgbClr val="212121"/>
                </a:solidFill>
                <a:effectLst/>
                <a:latin typeface="Roboto" panose="02000000000000000000" pitchFamily="2" charset="0"/>
              </a:rPr>
              <a:t>TR-SADEA implements a trade off between the accuracy of the surrogate model and the computational resources required for its training by minimizing the number of training samples. By using adaptive sampling it ensures that computational resources are directed towards the most promising regions of the search space. </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Local search, which is faster, is also used to find a solution, helps in pushing the optimization ahead quickly during the initial iterations. Clustering of candidates generated by DE , helps minimizing the number of Gaussian models that are required. </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0" i="0" dirty="0">
                <a:solidFill>
                  <a:srgbClr val="212121"/>
                </a:solidFill>
                <a:effectLst/>
                <a:latin typeface="Roboto" panose="02000000000000000000" pitchFamily="2" charset="0"/>
              </a:rPr>
              <a:t>Despite the reduced training cost, TR-SADEA maintains high optimization accuracy by strategically managing the surrogate model</a:t>
            </a:r>
            <a:endParaRPr lang="en-US" dirty="0">
              <a:cs typeface="Calibri"/>
            </a:endParaRPr>
          </a:p>
          <a:p>
            <a:pPr>
              <a:defRPr/>
            </a:pPr>
            <a:br>
              <a:rPr lang="en-US" dirty="0"/>
            </a:br>
            <a:endParaRPr lang="en-US" dirty="0"/>
          </a:p>
          <a:p>
            <a:pPr marL="0" marR="0" lvl="0" indent="0" algn="l" defTabSz="914400">
              <a:lnSpc>
                <a:spcPct val="100000"/>
              </a:lnSpc>
              <a:spcBef>
                <a:spcPts val="0"/>
              </a:spcBef>
              <a:spcAft>
                <a:spcPts val="0"/>
              </a:spcAft>
              <a:buClrTx/>
              <a:buSzTx/>
              <a:buFontTx/>
              <a:buNone/>
              <a:tabLst/>
              <a:defRPr/>
            </a:pPr>
            <a:endParaRPr lang="en-US" dirty="0">
              <a:cs typeface="Calibri"/>
            </a:endParaRPr>
          </a:p>
        </p:txBody>
      </p:sp>
      <p:sp>
        <p:nvSpPr>
          <p:cNvPr id="4" name="Slide Number Placeholder 3"/>
          <p:cNvSpPr>
            <a:spLocks noGrp="1"/>
          </p:cNvSpPr>
          <p:nvPr>
            <p:ph type="sldNum" sz="quarter" idx="5"/>
          </p:nvPr>
        </p:nvSpPr>
        <p:spPr/>
        <p:txBody>
          <a:bodyPr/>
          <a:lstStyle/>
          <a:p>
            <a:fld id="{AD73B8C3-A209-4A55-9261-22C2A02B3159}" type="slidenum">
              <a:rPr lang="en-US" smtClean="0"/>
              <a:pPr/>
              <a:t>8</a:t>
            </a:fld>
            <a:endParaRPr lang="en-US"/>
          </a:p>
        </p:txBody>
      </p:sp>
    </p:spTree>
    <p:extLst>
      <p:ext uri="{BB962C8B-B14F-4D97-AF65-F5344CB8AC3E}">
        <p14:creationId xmlns:p14="http://schemas.microsoft.com/office/powerpoint/2010/main" val="26604527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how can you use TR-SADEA?</a:t>
            </a:r>
          </a:p>
          <a:p>
            <a:r>
              <a:rPr lang="en-US" dirty="0"/>
              <a:t>You find it already available out of the box in the Antenna Toolbox apps, together with SADEA, and a general purpose </a:t>
            </a:r>
            <a:r>
              <a:rPr lang="en-US" dirty="0" err="1"/>
              <a:t>sourrogate</a:t>
            </a:r>
            <a:r>
              <a:rPr lang="en-US" dirty="0"/>
              <a:t> optimization method.</a:t>
            </a:r>
          </a:p>
          <a:p>
            <a:r>
              <a:rPr lang="en-US" dirty="0"/>
              <a:t>And you can use it from the MATLAB Command line, for advanced applications where you can build you own custom objective function.</a:t>
            </a:r>
            <a:endParaRPr lang="LID4096" dirty="0"/>
          </a:p>
        </p:txBody>
      </p:sp>
      <p:sp>
        <p:nvSpPr>
          <p:cNvPr id="4" name="Slide Number Placeholder 3"/>
          <p:cNvSpPr>
            <a:spLocks noGrp="1"/>
          </p:cNvSpPr>
          <p:nvPr>
            <p:ph type="sldNum" sz="quarter" idx="5"/>
          </p:nvPr>
        </p:nvSpPr>
        <p:spPr/>
        <p:txBody>
          <a:bodyPr/>
          <a:lstStyle/>
          <a:p>
            <a:fld id="{AD73B8C3-A209-4A55-9261-22C2A02B3159}" type="slidenum">
              <a:rPr lang="en-US" smtClean="0"/>
              <a:pPr/>
              <a:t>9</a:t>
            </a:fld>
            <a:endParaRPr lang="en-US"/>
          </a:p>
        </p:txBody>
      </p:sp>
    </p:spTree>
    <p:extLst>
      <p:ext uri="{BB962C8B-B14F-4D97-AF65-F5344CB8AC3E}">
        <p14:creationId xmlns:p14="http://schemas.microsoft.com/office/powerpoint/2010/main" val="63261449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pic>
        <p:nvPicPr>
          <p:cNvPr id="8" name="Background" descr="bluemesh.jpg"/>
          <p:cNvPicPr>
            <a:picLocks noChangeAspect="1"/>
          </p:cNvPicPr>
          <p:nvPr userDrawn="1"/>
        </p:nvPicPr>
        <p:blipFill>
          <a:blip r:embed="rId2" cstate="print"/>
          <a:stretch>
            <a:fillRect/>
          </a:stretch>
        </p:blipFill>
        <p:spPr>
          <a:xfrm>
            <a:off x="-4067" y="1287"/>
            <a:ext cx="12209092" cy="6856713"/>
          </a:xfrm>
          <a:prstGeom prst="rect">
            <a:avLst/>
          </a:prstGeom>
        </p:spPr>
      </p:pic>
      <p:sp>
        <p:nvSpPr>
          <p:cNvPr id="21" name="Title"/>
          <p:cNvSpPr>
            <a:spLocks noGrp="1"/>
          </p:cNvSpPr>
          <p:nvPr>
            <p:ph type="ctrTitle"/>
          </p:nvPr>
        </p:nvSpPr>
        <p:spPr>
          <a:xfrm>
            <a:off x="914400" y="914400"/>
            <a:ext cx="10363200" cy="1828800"/>
          </a:xfrm>
        </p:spPr>
        <p:txBody>
          <a:bodyPr/>
          <a:lstStyle>
            <a:lvl1pPr algn="l">
              <a:defRPr sz="3200">
                <a:solidFill>
                  <a:schemeClr val="tx2"/>
                </a:solidFill>
              </a:defRPr>
            </a:lvl1pPr>
          </a:lstStyle>
          <a:p>
            <a:r>
              <a:rPr lang="en-US"/>
              <a:t>Click to edit Master title style</a:t>
            </a:r>
          </a:p>
        </p:txBody>
      </p:sp>
      <p:sp>
        <p:nvSpPr>
          <p:cNvPr id="22" name="Subtitle"/>
          <p:cNvSpPr>
            <a:spLocks noGrp="1"/>
          </p:cNvSpPr>
          <p:nvPr>
            <p:ph type="subTitle" idx="1"/>
          </p:nvPr>
        </p:nvSpPr>
        <p:spPr>
          <a:xfrm>
            <a:off x="914400" y="3203579"/>
            <a:ext cx="10363200" cy="987425"/>
          </a:xfrm>
        </p:spPr>
        <p:txBody>
          <a:bodyPr>
            <a:normAutofit/>
          </a:bodyPr>
          <a:lstStyle>
            <a:lvl1pPr marL="0" indent="0" algn="l">
              <a:buNone/>
              <a:defRPr sz="1604" b="0">
                <a:solidFill>
                  <a:schemeClr val="tx1"/>
                </a:solidFill>
              </a:defRPr>
            </a:lvl1pPr>
            <a:lvl2pPr marL="458340" indent="0" algn="ctr">
              <a:buNone/>
              <a:defRPr>
                <a:solidFill>
                  <a:schemeClr val="tx1">
                    <a:tint val="75000"/>
                  </a:schemeClr>
                </a:solidFill>
              </a:defRPr>
            </a:lvl2pPr>
            <a:lvl3pPr marL="916680" indent="0" algn="ctr">
              <a:buNone/>
              <a:defRPr>
                <a:solidFill>
                  <a:schemeClr val="tx1">
                    <a:tint val="75000"/>
                  </a:schemeClr>
                </a:solidFill>
              </a:defRPr>
            </a:lvl3pPr>
            <a:lvl4pPr marL="1375020" indent="0" algn="ctr">
              <a:buNone/>
              <a:defRPr>
                <a:solidFill>
                  <a:schemeClr val="tx1">
                    <a:tint val="75000"/>
                  </a:schemeClr>
                </a:solidFill>
              </a:defRPr>
            </a:lvl4pPr>
            <a:lvl5pPr marL="1833361" indent="0" algn="ctr">
              <a:buNone/>
              <a:defRPr>
                <a:solidFill>
                  <a:schemeClr val="tx1">
                    <a:tint val="75000"/>
                  </a:schemeClr>
                </a:solidFill>
              </a:defRPr>
            </a:lvl5pPr>
            <a:lvl6pPr marL="2291701" indent="0" algn="ctr">
              <a:buNone/>
              <a:defRPr>
                <a:solidFill>
                  <a:schemeClr val="tx1">
                    <a:tint val="75000"/>
                  </a:schemeClr>
                </a:solidFill>
              </a:defRPr>
            </a:lvl6pPr>
            <a:lvl7pPr marL="2750041" indent="0" algn="ctr">
              <a:buNone/>
              <a:defRPr>
                <a:solidFill>
                  <a:schemeClr val="tx1">
                    <a:tint val="75000"/>
                  </a:schemeClr>
                </a:solidFill>
              </a:defRPr>
            </a:lvl7pPr>
            <a:lvl8pPr marL="3208381" indent="0" algn="ctr">
              <a:buNone/>
              <a:defRPr>
                <a:solidFill>
                  <a:schemeClr val="tx1">
                    <a:tint val="75000"/>
                  </a:schemeClr>
                </a:solidFill>
              </a:defRPr>
            </a:lvl8pPr>
            <a:lvl9pPr marL="3666721" indent="0" algn="ctr">
              <a:buNone/>
              <a:defRPr>
                <a:solidFill>
                  <a:schemeClr val="tx1">
                    <a:tint val="75000"/>
                  </a:schemeClr>
                </a:solidFill>
              </a:defRPr>
            </a:lvl9pPr>
          </a:lstStyle>
          <a:p>
            <a:r>
              <a:rPr lang="en-US"/>
              <a:t>Click to edit Master subtitle style</a:t>
            </a:r>
          </a:p>
        </p:txBody>
      </p:sp>
      <p:sp>
        <p:nvSpPr>
          <p:cNvPr id="23" name="Copyright"/>
          <p:cNvSpPr txBox="1"/>
          <p:nvPr userDrawn="1"/>
        </p:nvSpPr>
        <p:spPr>
          <a:xfrm>
            <a:off x="10227052" y="6527632"/>
            <a:ext cx="2438400" cy="246221"/>
          </a:xfrm>
          <a:prstGeom prst="rect">
            <a:avLst/>
          </a:prstGeom>
          <a:noFill/>
        </p:spPr>
        <p:txBody>
          <a:bodyPr wrap="square" rtlCol="0">
            <a:spAutoFit/>
          </a:bodyPr>
          <a:lstStyle/>
          <a:p>
            <a:r>
              <a:rPr lang="en-US" sz="1003">
                <a:solidFill>
                  <a:schemeClr val="bg1"/>
                </a:solidFill>
                <a:latin typeface="Arial" pitchFamily="34" charset="0"/>
                <a:cs typeface="Arial" pitchFamily="34" charset="0"/>
              </a:rPr>
              <a:t>© </a:t>
            </a:r>
            <a:fld id="{7A5DCF06-F24C-994E-9BEC-4325F534396F}" type="datetimeyyyy">
              <a:rPr lang="en-US" sz="1003" smtClean="0">
                <a:solidFill>
                  <a:schemeClr val="bg1"/>
                </a:solidFill>
                <a:latin typeface="Arial" pitchFamily="34" charset="0"/>
                <a:cs typeface="Arial" pitchFamily="34" charset="0"/>
              </a:rPr>
              <a:t>2026</a:t>
            </a:fld>
            <a:r>
              <a:rPr lang="en-US" sz="1003">
                <a:solidFill>
                  <a:schemeClr val="bg1"/>
                </a:solidFill>
                <a:latin typeface="Arial" pitchFamily="34" charset="0"/>
                <a:cs typeface="Arial" pitchFamily="34" charset="0"/>
              </a:rPr>
              <a:t> The MathWorks, Inc.</a:t>
            </a:r>
          </a:p>
        </p:txBody>
      </p:sp>
      <p:cxnSp>
        <p:nvCxnSpPr>
          <p:cNvPr id="26" name="GrayLine"/>
          <p:cNvCxnSpPr/>
          <p:nvPr userDrawn="1"/>
        </p:nvCxnSpPr>
        <p:spPr>
          <a:xfrm>
            <a:off x="-4067" y="4376652"/>
            <a:ext cx="12209092" cy="0"/>
          </a:xfrm>
          <a:prstGeom prst="line">
            <a:avLst/>
          </a:prstGeom>
          <a:ln w="57150">
            <a:solidFill>
              <a:schemeClr val="bg1">
                <a:lumMod val="65000"/>
              </a:schemeClr>
            </a:solidFill>
          </a:ln>
        </p:spPr>
        <p:style>
          <a:lnRef idx="1">
            <a:schemeClr val="dk1"/>
          </a:lnRef>
          <a:fillRef idx="0">
            <a:schemeClr val="dk1"/>
          </a:fillRef>
          <a:effectRef idx="0">
            <a:schemeClr val="dk1"/>
          </a:effectRef>
          <a:fontRef idx="minor">
            <a:schemeClr val="tx1"/>
          </a:fontRef>
        </p:style>
      </p:cxnSp>
      <p:pic>
        <p:nvPicPr>
          <p:cNvPr id="9" name="Logo" descr="09_MW_logo_CMYK_REV.png"/>
          <p:cNvPicPr>
            <a:picLocks noChangeAspect="1"/>
          </p:cNvPicPr>
          <p:nvPr userDrawn="1"/>
        </p:nvPicPr>
        <p:blipFill>
          <a:blip r:embed="rId3" cstate="print"/>
          <a:stretch>
            <a:fillRect/>
          </a:stretch>
        </p:blipFill>
        <p:spPr>
          <a:xfrm>
            <a:off x="10330730" y="141139"/>
            <a:ext cx="1620665" cy="320591"/>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sz="2800" baseline="0">
                <a:solidFill>
                  <a:schemeClr val="tx2"/>
                </a:solidFill>
              </a:defRPr>
            </a:lvl1pPr>
          </a:lstStyle>
          <a:p>
            <a:r>
              <a:rPr lang="en-US"/>
              <a:t>Click to edit Master title style</a:t>
            </a:r>
          </a:p>
        </p:txBody>
      </p:sp>
      <p:sp>
        <p:nvSpPr>
          <p:cNvPr id="3" name="Content"/>
          <p:cNvSpPr>
            <a:spLocks noGrp="1"/>
          </p:cNvSpPr>
          <p:nvPr>
            <p:ph idx="1"/>
          </p:nvPr>
        </p:nvSpPr>
        <p:spPr>
          <a:xfrm>
            <a:off x="609602" y="1600200"/>
            <a:ext cx="10769600" cy="4648200"/>
          </a:xfrm>
        </p:spPr>
        <p:txBody>
          <a:bodyPr/>
          <a:lstStyle>
            <a:lvl1pPr>
              <a:buSzPct val="75000"/>
              <a:defRPr sz="2400"/>
            </a:lvl1pPr>
            <a:lvl2pPr>
              <a:lnSpc>
                <a:spcPct val="105000"/>
              </a:lnSpc>
              <a:defRPr sz="2000"/>
            </a:lvl2pPr>
            <a:lvl3pPr>
              <a:lnSpc>
                <a:spcPct val="105000"/>
              </a:lnSpc>
              <a:buSzPct val="75000"/>
              <a:defRPr sz="1604"/>
            </a:lvl3pPr>
            <a:lvl4pPr>
              <a:lnSpc>
                <a:spcPct val="105000"/>
              </a:lnSpc>
              <a:defRPr/>
            </a:lvl4pPr>
            <a:lvl5pPr>
              <a:lnSpc>
                <a:spcPct val="105000"/>
              </a:lnSpc>
              <a:defRPr/>
            </a:lvl5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p>
            <a:r>
              <a:rPr lang="en-US"/>
              <a:t>Click to edit Master title style</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Feature">
    <p:spTree>
      <p:nvGrpSpPr>
        <p:cNvPr id="1" name=""/>
        <p:cNvGrpSpPr/>
        <p:nvPr/>
      </p:nvGrpSpPr>
      <p:grpSpPr>
        <a:xfrm>
          <a:off x="0" y="0"/>
          <a:ext cx="0" cy="0"/>
          <a:chOff x="0" y="0"/>
          <a:chExt cx="0" cy="0"/>
        </a:xfrm>
      </p:grpSpPr>
      <p:sp>
        <p:nvSpPr>
          <p:cNvPr id="10" name="Title"/>
          <p:cNvSpPr>
            <a:spLocks noGrp="1"/>
          </p:cNvSpPr>
          <p:nvPr>
            <p:ph type="title"/>
          </p:nvPr>
        </p:nvSpPr>
        <p:spPr>
          <a:xfrm>
            <a:off x="609600" y="457200"/>
            <a:ext cx="9448800" cy="990600"/>
          </a:xfrm>
        </p:spPr>
        <p:txBody>
          <a:bodyPr anchor="t" anchorCtr="0"/>
          <a:lstStyle>
            <a:lvl1pPr algn="l">
              <a:defRPr sz="2800" b="0" i="0">
                <a:solidFill>
                  <a:schemeClr val="tx2"/>
                </a:solidFill>
              </a:defRPr>
            </a:lvl1pPr>
          </a:lstStyle>
          <a:p>
            <a:r>
              <a:rPr lang="en-US"/>
              <a:t>Click to edit Master title style</a:t>
            </a:r>
          </a:p>
        </p:txBody>
      </p:sp>
      <p:sp>
        <p:nvSpPr>
          <p:cNvPr id="11" name="Content"/>
          <p:cNvSpPr>
            <a:spLocks noGrp="1"/>
          </p:cNvSpPr>
          <p:nvPr>
            <p:ph sz="half" idx="10" hasCustomPrompt="1"/>
          </p:nvPr>
        </p:nvSpPr>
        <p:spPr>
          <a:xfrm>
            <a:off x="609601" y="2819400"/>
            <a:ext cx="5080001" cy="3200400"/>
          </a:xfrm>
        </p:spPr>
        <p:txBody>
          <a:bodyPr/>
          <a:lstStyle>
            <a:lvl1pPr>
              <a:buClr>
                <a:srgbClr val="125687"/>
              </a:buClr>
              <a:buSzTx/>
              <a:defRPr sz="1800" baseline="0"/>
            </a:lvl1pPr>
            <a:lvl2pPr>
              <a:defRPr sz="1604"/>
            </a:lvl2pPr>
            <a:lvl3pPr>
              <a:buNone/>
              <a:defRPr sz="1604"/>
            </a:lvl3pPr>
            <a:lvl4pPr>
              <a:defRPr sz="1805"/>
            </a:lvl4pPr>
            <a:lvl5pPr>
              <a:defRPr sz="1805"/>
            </a:lvl5pPr>
            <a:lvl6pPr>
              <a:defRPr sz="1805"/>
            </a:lvl6pPr>
            <a:lvl7pPr>
              <a:defRPr sz="1805"/>
            </a:lvl7pPr>
            <a:lvl8pPr>
              <a:defRPr sz="1805"/>
            </a:lvl8pPr>
            <a:lvl9pPr>
              <a:defRPr sz="1805"/>
            </a:lvl9pPr>
          </a:lstStyle>
          <a:p>
            <a:pPr lvl="0">
              <a:buClr>
                <a:srgbClr val="125687"/>
              </a:buClr>
              <a:buSzTx/>
            </a:pPr>
            <a:r>
              <a:rPr lang="en-US"/>
              <a:t>Click to add b</a:t>
            </a:r>
            <a:r>
              <a:rPr lang="en-US" sz="1805">
                <a:solidFill>
                  <a:prstClr val="black"/>
                </a:solidFill>
              </a:rPr>
              <a:t>rief summary and benefits of feature (ideally three bullets)</a:t>
            </a:r>
          </a:p>
          <a:p>
            <a:pPr lvl="1"/>
            <a:r>
              <a:rPr lang="en-US"/>
              <a:t>Second level</a:t>
            </a:r>
          </a:p>
        </p:txBody>
      </p:sp>
      <p:sp>
        <p:nvSpPr>
          <p:cNvPr id="13" name="Headline"/>
          <p:cNvSpPr>
            <a:spLocks noGrp="1"/>
          </p:cNvSpPr>
          <p:nvPr>
            <p:ph type="body" sz="quarter" idx="11" hasCustomPrompt="1"/>
          </p:nvPr>
        </p:nvSpPr>
        <p:spPr>
          <a:xfrm>
            <a:off x="609601" y="1600200"/>
            <a:ext cx="5080001" cy="838200"/>
          </a:xfrm>
        </p:spPr>
        <p:txBody>
          <a:bodyPr anchor="t"/>
          <a:lstStyle>
            <a:lvl1pPr marL="0" indent="0" algn="l">
              <a:buNone/>
              <a:defRPr sz="2000" b="0" i="0" baseline="0"/>
            </a:lvl1pPr>
          </a:lstStyle>
          <a:p>
            <a:pPr lvl="0"/>
            <a:r>
              <a:rPr lang="en-US"/>
              <a:t>Click to add headline</a:t>
            </a:r>
            <a:r>
              <a:rPr lang="en-US" sz="2005" b="1">
                <a:solidFill>
                  <a:prstClr val="black"/>
                </a:solidFill>
              </a:rPr>
              <a:t> providing value of feature</a:t>
            </a:r>
            <a:endParaRPr lang="en-US"/>
          </a:p>
        </p:txBody>
      </p:sp>
      <p:sp>
        <p:nvSpPr>
          <p:cNvPr id="14" name="ProductName"/>
          <p:cNvSpPr>
            <a:spLocks noGrp="1"/>
          </p:cNvSpPr>
          <p:nvPr>
            <p:ph type="body" sz="half" idx="12" hasCustomPrompt="1"/>
          </p:nvPr>
        </p:nvSpPr>
        <p:spPr>
          <a:xfrm>
            <a:off x="609602" y="6172200"/>
            <a:ext cx="5473700" cy="533400"/>
          </a:xfrm>
        </p:spPr>
        <p:txBody>
          <a:bodyPr anchor="b" anchorCtr="0"/>
          <a:lstStyle>
            <a:lvl1pPr marL="230761" indent="-229170">
              <a:buClrTx/>
              <a:buSzPct val="125000"/>
              <a:buFont typeface="Courier New" pitchFamily="49" charset="0"/>
              <a:buChar char="»"/>
              <a:defRPr sz="1604" b="0">
                <a:latin typeface="Courier New" pitchFamily="49" charset="0"/>
                <a:cs typeface="Courier New" pitchFamily="49" charset="0"/>
              </a:defRPr>
            </a:lvl1pPr>
          </a:lstStyle>
          <a:p>
            <a:pPr lvl="0"/>
            <a:r>
              <a:rPr lang="en-US"/>
              <a:t>Click to add </a:t>
            </a:r>
            <a:r>
              <a:rPr lang="en-US" sz="1604" err="1">
                <a:latin typeface="Courier New" pitchFamily="49" charset="0"/>
                <a:cs typeface="Courier New" pitchFamily="49" charset="0"/>
              </a:rPr>
              <a:t>product_example_name</a:t>
            </a:r>
            <a:r>
              <a:rPr lang="en-US" sz="1604">
                <a:latin typeface="Courier New" pitchFamily="49" charset="0"/>
                <a:cs typeface="Courier New" pitchFamily="49" charset="0"/>
              </a:rPr>
              <a:t>.</a:t>
            </a:r>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sp>
        <p:nvSpPr>
          <p:cNvPr id="2" name="Title"/>
          <p:cNvSpPr>
            <a:spLocks noGrp="1"/>
          </p:cNvSpPr>
          <p:nvPr>
            <p:ph type="title" hasCustomPrompt="1"/>
          </p:nvPr>
        </p:nvSpPr>
        <p:spPr>
          <a:xfrm>
            <a:off x="963084" y="1914529"/>
            <a:ext cx="10363200" cy="1362075"/>
          </a:xfrm>
        </p:spPr>
        <p:txBody>
          <a:bodyPr anchor="t"/>
          <a:lstStyle>
            <a:lvl1pPr algn="ctr">
              <a:defRPr sz="3200" b="0" cap="none">
                <a:solidFill>
                  <a:schemeClr val="tx2"/>
                </a:solidFill>
              </a:defRPr>
            </a:lvl1pPr>
          </a:lstStyle>
          <a:p>
            <a:r>
              <a:rPr lang="en-US"/>
              <a:t>Click to edit Section Header Title style</a:t>
            </a: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p:spPr>
        <p:txBody>
          <a:bodyPr/>
          <a:lstStyle>
            <a:lvl1pPr>
              <a:defRPr>
                <a:solidFill>
                  <a:schemeClr val="tx2"/>
                </a:solidFill>
              </a:defRPr>
            </a:lvl1pPr>
          </a:lstStyle>
          <a:p>
            <a:r>
              <a:rPr lang="en-US"/>
              <a:t>Click to edit Master title style</a:t>
            </a:r>
          </a:p>
        </p:txBody>
      </p:sp>
      <p:sp>
        <p:nvSpPr>
          <p:cNvPr id="3" name="LeftContent"/>
          <p:cNvSpPr>
            <a:spLocks noGrp="1"/>
          </p:cNvSpPr>
          <p:nvPr>
            <p:ph sz="half" idx="1"/>
          </p:nvPr>
        </p:nvSpPr>
        <p:spPr>
          <a:xfrm>
            <a:off x="609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
        <p:nvSpPr>
          <p:cNvPr id="4" name="RightContent"/>
          <p:cNvSpPr>
            <a:spLocks noGrp="1"/>
          </p:cNvSpPr>
          <p:nvPr>
            <p:ph sz="half" idx="2"/>
          </p:nvPr>
        </p:nvSpPr>
        <p:spPr>
          <a:xfrm>
            <a:off x="6197602" y="1600200"/>
            <a:ext cx="5181600" cy="4648199"/>
          </a:xfrm>
        </p:spPr>
        <p:txBody>
          <a:bodyPr/>
          <a:lstStyle>
            <a:lvl1pPr>
              <a:defRPr sz="2400"/>
            </a:lvl1pPr>
            <a:lvl2pPr>
              <a:defRPr sz="2000"/>
            </a:lvl2pPr>
            <a:lvl3pPr>
              <a:defRPr sz="1604"/>
            </a:lvl3pPr>
            <a:lvl4pPr>
              <a:defRPr sz="1805"/>
            </a:lvl4pPr>
            <a:lvl5pPr>
              <a:defRPr sz="1805"/>
            </a:lvl5pPr>
            <a:lvl6pPr>
              <a:defRPr sz="1805"/>
            </a:lvl6pPr>
            <a:lvl7pPr>
              <a:defRPr sz="1805"/>
            </a:lvl7pPr>
            <a:lvl8pPr>
              <a:defRPr sz="1805"/>
            </a:lvl8pPr>
            <a:lvl9pPr>
              <a:defRPr sz="1805"/>
            </a:lvl9pPr>
          </a:lstStyle>
          <a:p>
            <a:pPr lvl="0"/>
            <a:r>
              <a:rPr lang="en-US"/>
              <a:t>Click to edit Master text styles</a:t>
            </a:r>
          </a:p>
          <a:p>
            <a:pPr lvl="1"/>
            <a:r>
              <a:rPr lang="en-US"/>
              <a:t>Second level</a:t>
            </a:r>
          </a:p>
          <a:p>
            <a:pPr lvl="2"/>
            <a:r>
              <a:rPr lang="en-US"/>
              <a:t>Third level</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4" name="Content"/>
          <p:cNvSpPr txBox="1">
            <a:spLocks noChangeArrowheads="1"/>
          </p:cNvSpPr>
          <p:nvPr userDrawn="1"/>
        </p:nvSpPr>
        <p:spPr bwMode="auto">
          <a:xfrm>
            <a:off x="607484" y="1600200"/>
            <a:ext cx="10765536" cy="4648200"/>
          </a:xfrm>
          <a:prstGeom prst="rect">
            <a:avLst/>
          </a:prstGeom>
          <a:noFill/>
          <a:ln w="9525">
            <a:noFill/>
            <a:miter lim="800000"/>
            <a:headEnd/>
            <a:tailEnd/>
          </a:ln>
          <a:effectLst/>
        </p:spPr>
        <p:txBody>
          <a:bodyPr wrap="none"/>
          <a:lstStyle/>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Edit</a:t>
            </a:r>
            <a:r>
              <a:rPr lang="en-US" sz="2400" baseline="0">
                <a:latin typeface="Arial" pitchFamily="34" charset="0"/>
                <a:cs typeface="Arial" pitchFamily="34" charset="0"/>
              </a:rPr>
              <a:t> in Slide Master view to e</a:t>
            </a:r>
            <a:r>
              <a:rPr lang="en-US" sz="2400">
                <a:latin typeface="Arial" pitchFamily="34" charset="0"/>
                <a:cs typeface="Arial" pitchFamily="34" charset="0"/>
              </a:rPr>
              <a:t>nter agenda items</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 2</a:t>
            </a:r>
          </a:p>
          <a:p>
            <a:pPr marL="342164" lvl="0" indent="-342164">
              <a:buClr>
                <a:schemeClr val="tx2"/>
              </a:buClr>
              <a:buSzPct val="75000"/>
              <a:buFont typeface="Wingdings" pitchFamily="2" charset="2"/>
              <a:buChar char="§"/>
              <a:tabLst>
                <a:tab pos="458340" algn="l"/>
              </a:tabLst>
            </a:pPr>
            <a:r>
              <a:rPr lang="en-US" sz="2400">
                <a:latin typeface="Arial" pitchFamily="34" charset="0"/>
                <a:cs typeface="Arial" pitchFamily="34" charset="0"/>
              </a:rPr>
              <a:t>Bullet</a:t>
            </a:r>
            <a:r>
              <a:rPr lang="en-US" sz="2400" baseline="0">
                <a:latin typeface="Arial" pitchFamily="34" charset="0"/>
                <a:cs typeface="Arial" pitchFamily="34" charset="0"/>
              </a:rPr>
              <a:t> 3</a:t>
            </a:r>
          </a:p>
          <a:p>
            <a:pPr marL="342164" lvl="0" indent="-342164">
              <a:buClr>
                <a:schemeClr val="tx2"/>
              </a:buClr>
              <a:buSzPct val="75000"/>
              <a:buFont typeface="Wingdings" pitchFamily="2" charset="2"/>
              <a:buChar char="§"/>
              <a:tabLst>
                <a:tab pos="458340" algn="l"/>
              </a:tabLst>
            </a:pPr>
            <a:r>
              <a:rPr lang="en-US" sz="2400" baseline="0">
                <a:latin typeface="Arial" pitchFamily="34" charset="0"/>
                <a:cs typeface="Arial" pitchFamily="34" charset="0"/>
              </a:rPr>
              <a:t>Bullet 4</a:t>
            </a:r>
          </a:p>
          <a:p>
            <a:pPr marL="342164" lvl="0" indent="-342164">
              <a:buClr>
                <a:schemeClr val="tx2"/>
              </a:buClr>
              <a:buSzPct val="75000"/>
              <a:buFont typeface="Wingdings" pitchFamily="2" charset="2"/>
              <a:buChar char="§"/>
              <a:tabLst>
                <a:tab pos="458340" algn="l"/>
              </a:tabLst>
            </a:pPr>
            <a:endParaRPr lang="en-US" sz="2400">
              <a:latin typeface="Arial" pitchFamily="34" charset="0"/>
              <a:cs typeface="Arial" pitchFamily="34" charset="0"/>
            </a:endParaRPr>
          </a:p>
        </p:txBody>
      </p:sp>
      <p:sp>
        <p:nvSpPr>
          <p:cNvPr id="5" name="Title"/>
          <p:cNvSpPr txBox="1">
            <a:spLocks noChangeArrowheads="1"/>
          </p:cNvSpPr>
          <p:nvPr userDrawn="1"/>
        </p:nvSpPr>
        <p:spPr bwMode="auto">
          <a:xfrm>
            <a:off x="607484" y="464695"/>
            <a:ext cx="10765536" cy="1143000"/>
          </a:xfrm>
          <a:prstGeom prst="rect">
            <a:avLst/>
          </a:prstGeom>
          <a:noFill/>
          <a:ln w="9525">
            <a:noFill/>
            <a:miter lim="800000"/>
            <a:headEnd/>
            <a:tailEnd/>
          </a:ln>
          <a:effectLst/>
        </p:spPr>
        <p:txBody>
          <a:bodyPr wrap="none"/>
          <a:lstStyle/>
          <a:p>
            <a:pPr marL="0" marR="0" indent="0" algn="l" defTabSz="916680" rtl="0" eaLnBrk="1" fontAlgn="auto" latinLnBrk="0" hangingPunct="1">
              <a:lnSpc>
                <a:spcPct val="100000"/>
              </a:lnSpc>
              <a:spcBef>
                <a:spcPts val="0"/>
              </a:spcBef>
              <a:spcAft>
                <a:spcPts val="0"/>
              </a:spcAft>
              <a:buClrTx/>
              <a:buSzTx/>
              <a:buFontTx/>
              <a:buNone/>
              <a:tabLst/>
              <a:defRPr/>
            </a:pPr>
            <a:r>
              <a:rPr lang="en-US" sz="2800" b="0">
                <a:solidFill>
                  <a:schemeClr val="tx2"/>
                </a:solidFill>
                <a:latin typeface="Arial" pitchFamily="34" charset="0"/>
                <a:cs typeface="Arial" pitchFamily="34" charset="0"/>
              </a:rPr>
              <a:t>Edit in Slide</a:t>
            </a:r>
            <a:r>
              <a:rPr lang="en-US" sz="2800" b="0" baseline="0">
                <a:solidFill>
                  <a:schemeClr val="tx2"/>
                </a:solidFill>
                <a:latin typeface="Arial" pitchFamily="34" charset="0"/>
                <a:cs typeface="Arial" pitchFamily="34" charset="0"/>
              </a:rPr>
              <a:t> Master view to e</a:t>
            </a:r>
            <a:r>
              <a:rPr lang="en-US" sz="2800" b="0">
                <a:solidFill>
                  <a:schemeClr val="tx2"/>
                </a:solidFill>
                <a:latin typeface="Arial" pitchFamily="34" charset="0"/>
                <a:cs typeface="Arial" pitchFamily="34" charset="0"/>
              </a:rPr>
              <a:t>nter agenda</a:t>
            </a:r>
            <a:r>
              <a:rPr lang="en-US" sz="2800" b="0" baseline="0">
                <a:solidFill>
                  <a:schemeClr val="tx2"/>
                </a:solidFill>
                <a:latin typeface="Arial" pitchFamily="34" charset="0"/>
                <a:cs typeface="Arial" pitchFamily="34" charset="0"/>
              </a:rPr>
              <a:t> title</a:t>
            </a:r>
            <a:endParaRPr lang="en-US" sz="2800" b="0">
              <a:solidFill>
                <a:schemeClr val="tx2"/>
              </a:solidFill>
              <a:latin typeface="Arial" pitchFamily="34" charset="0"/>
              <a:cs typeface="Arial" pitchFamily="34" charset="0"/>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userDrawn="1">
  <p:cSld name="Blank Slide">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46B87C9-5099-F743-9A3B-9C7DDCC49253}"/>
              </a:ext>
            </a:extLst>
          </p:cNvPr>
          <p:cNvPicPr>
            <a:picLocks noChangeAspect="1"/>
          </p:cNvPicPr>
          <p:nvPr userDrawn="1"/>
        </p:nvPicPr>
        <p:blipFill>
          <a:blip r:embed="rId2"/>
          <a:stretch>
            <a:fillRect/>
          </a:stretch>
        </p:blipFill>
        <p:spPr>
          <a:xfrm>
            <a:off x="0" y="3727"/>
            <a:ext cx="12192000" cy="6858000"/>
          </a:xfrm>
          <a:prstGeom prst="rect">
            <a:avLst/>
          </a:prstGeom>
        </p:spPr>
      </p:pic>
      <p:sp>
        <p:nvSpPr>
          <p:cNvPr id="7" name="Content Placeholder 4">
            <a:extLst>
              <a:ext uri="{FF2B5EF4-FFF2-40B4-BE49-F238E27FC236}">
                <a16:creationId xmlns:a16="http://schemas.microsoft.com/office/drawing/2014/main" id="{168721DF-5E03-3947-B332-6D414B4B4A9F}"/>
              </a:ext>
            </a:extLst>
          </p:cNvPr>
          <p:cNvSpPr>
            <a:spLocks noGrp="1"/>
          </p:cNvSpPr>
          <p:nvPr>
            <p:ph sz="quarter" idx="10" hasCustomPrompt="1"/>
          </p:nvPr>
        </p:nvSpPr>
        <p:spPr>
          <a:xfrm>
            <a:off x="1702013" y="2191848"/>
            <a:ext cx="6418256" cy="961258"/>
          </a:xfrm>
          <a:prstGeom prst="rect">
            <a:avLst/>
          </a:prstGeom>
        </p:spPr>
        <p:txBody>
          <a:bodyPr lIns="0" tIns="0" rIns="0" bIns="0" anchor="b"/>
          <a:lstStyle>
            <a:lvl1pPr marL="0" indent="0">
              <a:lnSpc>
                <a:spcPct val="100000"/>
              </a:lnSpc>
              <a:buNone/>
              <a:defRPr sz="2400" b="1">
                <a:solidFill>
                  <a:schemeClr val="bg1"/>
                </a:solidFill>
              </a:defRPr>
            </a:lvl1pPr>
            <a:lvl2pPr marL="433380" indent="0">
              <a:buNone/>
              <a:defRPr>
                <a:solidFill>
                  <a:schemeClr val="bg1"/>
                </a:solidFill>
              </a:defRPr>
            </a:lvl2pPr>
            <a:lvl3pPr marL="866760" indent="0">
              <a:buNone/>
              <a:defRPr>
                <a:solidFill>
                  <a:schemeClr val="bg1"/>
                </a:solidFill>
              </a:defRPr>
            </a:lvl3pPr>
            <a:lvl4pPr marL="1300140" indent="0">
              <a:buNone/>
              <a:defRPr>
                <a:solidFill>
                  <a:schemeClr val="bg1"/>
                </a:solidFill>
              </a:defRPr>
            </a:lvl4pPr>
            <a:lvl5pPr marL="1733519" indent="0">
              <a:buNone/>
              <a:defRPr>
                <a:solidFill>
                  <a:schemeClr val="bg1"/>
                </a:solidFill>
              </a:defRPr>
            </a:lvl5pPr>
          </a:lstStyle>
          <a:p>
            <a:pPr lvl="0"/>
            <a:r>
              <a:rPr lang="en-US"/>
              <a:t>Webinar Title</a:t>
            </a:r>
          </a:p>
        </p:txBody>
      </p:sp>
      <p:sp>
        <p:nvSpPr>
          <p:cNvPr id="8" name="Content Placeholder 7">
            <a:extLst>
              <a:ext uri="{FF2B5EF4-FFF2-40B4-BE49-F238E27FC236}">
                <a16:creationId xmlns:a16="http://schemas.microsoft.com/office/drawing/2014/main" id="{F0246106-5DC2-7E41-B900-9146562AD275}"/>
              </a:ext>
            </a:extLst>
          </p:cNvPr>
          <p:cNvSpPr>
            <a:spLocks noGrp="1"/>
          </p:cNvSpPr>
          <p:nvPr>
            <p:ph sz="quarter" idx="11" hasCustomPrompt="1"/>
          </p:nvPr>
        </p:nvSpPr>
        <p:spPr>
          <a:xfrm>
            <a:off x="1702014" y="3358140"/>
            <a:ext cx="6418256" cy="961258"/>
          </a:xfrm>
          <a:prstGeom prst="rect">
            <a:avLst/>
          </a:prstGeom>
        </p:spPr>
        <p:txBody>
          <a:bodyPr lIns="0" tIns="0" rIns="0" bIns="0" anchor="t"/>
          <a:lstStyle>
            <a:lvl1pPr marL="0" indent="0">
              <a:lnSpc>
                <a:spcPct val="100000"/>
              </a:lnSpc>
              <a:buNone/>
              <a:defRPr sz="2000">
                <a:solidFill>
                  <a:schemeClr val="bg1"/>
                </a:solidFill>
              </a:defRPr>
            </a:lvl1pPr>
            <a:lvl2pPr marL="433380" indent="0">
              <a:lnSpc>
                <a:spcPct val="100000"/>
              </a:lnSpc>
              <a:buNone/>
              <a:defRPr>
                <a:solidFill>
                  <a:schemeClr val="bg1"/>
                </a:solidFill>
              </a:defRPr>
            </a:lvl2pPr>
            <a:lvl3pPr marL="866760" indent="0">
              <a:lnSpc>
                <a:spcPct val="100000"/>
              </a:lnSpc>
              <a:buNone/>
              <a:defRPr>
                <a:solidFill>
                  <a:schemeClr val="bg1"/>
                </a:solidFill>
              </a:defRPr>
            </a:lvl3pPr>
            <a:lvl4pPr marL="1300140" indent="0">
              <a:lnSpc>
                <a:spcPct val="100000"/>
              </a:lnSpc>
              <a:buNone/>
              <a:defRPr>
                <a:solidFill>
                  <a:schemeClr val="bg1"/>
                </a:solidFill>
              </a:defRPr>
            </a:lvl4pPr>
            <a:lvl5pPr marL="1733519" indent="0">
              <a:lnSpc>
                <a:spcPct val="100000"/>
              </a:lnSpc>
              <a:buNone/>
              <a:defRPr>
                <a:solidFill>
                  <a:schemeClr val="bg1"/>
                </a:solidFill>
              </a:defRPr>
            </a:lvl5pPr>
          </a:lstStyle>
          <a:p>
            <a:pPr lvl="0"/>
            <a:r>
              <a:rPr lang="en-US"/>
              <a:t>Supporting text.</a:t>
            </a:r>
          </a:p>
        </p:txBody>
      </p:sp>
      <p:pic>
        <p:nvPicPr>
          <p:cNvPr id="9" name="Picture 8">
            <a:extLst>
              <a:ext uri="{FF2B5EF4-FFF2-40B4-BE49-F238E27FC236}">
                <a16:creationId xmlns:a16="http://schemas.microsoft.com/office/drawing/2014/main" id="{EB460D71-1E3F-CB44-8170-D59886308B4C}"/>
              </a:ext>
            </a:extLst>
          </p:cNvPr>
          <p:cNvPicPr>
            <a:picLocks noChangeAspect="1"/>
          </p:cNvPicPr>
          <p:nvPr userDrawn="1"/>
        </p:nvPicPr>
        <p:blipFill>
          <a:blip r:embed="rId3"/>
          <a:srcRect/>
          <a:stretch/>
        </p:blipFill>
        <p:spPr>
          <a:xfrm>
            <a:off x="1702013" y="1165506"/>
            <a:ext cx="2859892" cy="612834"/>
          </a:xfrm>
          <a:prstGeom prst="rect">
            <a:avLst/>
          </a:prstGeom>
        </p:spPr>
      </p:pic>
      <p:sp>
        <p:nvSpPr>
          <p:cNvPr id="12" name="Rectangle 11">
            <a:extLst>
              <a:ext uri="{FF2B5EF4-FFF2-40B4-BE49-F238E27FC236}">
                <a16:creationId xmlns:a16="http://schemas.microsoft.com/office/drawing/2014/main" id="{7F331EC5-7C0E-C644-BB9F-C0E1999240FA}"/>
              </a:ext>
            </a:extLst>
          </p:cNvPr>
          <p:cNvSpPr/>
          <p:nvPr userDrawn="1"/>
        </p:nvSpPr>
        <p:spPr>
          <a:xfrm>
            <a:off x="8491332" y="119268"/>
            <a:ext cx="3581400" cy="299084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lIns="457200" rIns="457200" rtlCol="0" anchor="ctr"/>
          <a:lstStyle/>
          <a:p>
            <a:pPr lvl="0">
              <a:defRPr/>
            </a:pPr>
            <a:r>
              <a:rPr lang="en-US" sz="1400" b="0">
                <a:solidFill>
                  <a:srgbClr val="FFC000"/>
                </a:solidFill>
                <a:latin typeface="Arial" pitchFamily="34" charset="0"/>
                <a:cs typeface="Arial" pitchFamily="34" charset="0"/>
              </a:rPr>
              <a:t>If PIP is being used within the presentation window, be sure it is positioned here.</a:t>
            </a:r>
          </a:p>
          <a:p>
            <a:pPr lvl="0">
              <a:defRPr/>
            </a:pPr>
            <a:endParaRPr lang="en-US" sz="1400" b="1">
              <a:solidFill>
                <a:schemeClr val="bg1"/>
              </a:solidFill>
              <a:latin typeface="Arial" pitchFamily="34" charset="0"/>
              <a:cs typeface="Arial" pitchFamily="34" charset="0"/>
            </a:endParaRPr>
          </a:p>
          <a:p>
            <a:pPr lvl="0">
              <a:defRPr/>
            </a:pPr>
            <a:r>
              <a:rPr lang="en-US" sz="1400">
                <a:solidFill>
                  <a:schemeClr val="bg1"/>
                </a:solidFill>
                <a:latin typeface="Arial" pitchFamily="34" charset="0"/>
                <a:cs typeface="Arial" pitchFamily="34" charset="0"/>
              </a:rPr>
              <a:t>Make sure all text, images, and logos are positioned safely away from this non-visible area.</a:t>
            </a:r>
          </a:p>
        </p:txBody>
      </p:sp>
      <p:sp>
        <p:nvSpPr>
          <p:cNvPr id="16" name="Picture Placeholder 15">
            <a:extLst>
              <a:ext uri="{FF2B5EF4-FFF2-40B4-BE49-F238E27FC236}">
                <a16:creationId xmlns:a16="http://schemas.microsoft.com/office/drawing/2014/main" id="{207DFE16-23EB-6E49-AA16-664B71713F58}"/>
              </a:ext>
            </a:extLst>
          </p:cNvPr>
          <p:cNvSpPr>
            <a:spLocks noGrp="1"/>
          </p:cNvSpPr>
          <p:nvPr>
            <p:ph type="pic" sz="quarter" idx="17" hasCustomPrompt="1"/>
          </p:nvPr>
        </p:nvSpPr>
        <p:spPr>
          <a:xfrm>
            <a:off x="8110116" y="3389245"/>
            <a:ext cx="4084776" cy="3468755"/>
          </a:xfrm>
          <a:custGeom>
            <a:avLst/>
            <a:gdLst>
              <a:gd name="connsiteX0" fmla="*/ 0 w 2633663"/>
              <a:gd name="connsiteY0" fmla="*/ 0 h 2057400"/>
              <a:gd name="connsiteX1" fmla="*/ 2633663 w 2633663"/>
              <a:gd name="connsiteY1" fmla="*/ 0 h 2057400"/>
              <a:gd name="connsiteX2" fmla="*/ 2633663 w 2633663"/>
              <a:gd name="connsiteY2" fmla="*/ 2057400 h 2057400"/>
              <a:gd name="connsiteX3" fmla="*/ 0 w 2633663"/>
              <a:gd name="connsiteY3" fmla="*/ 2057400 h 2057400"/>
              <a:gd name="connsiteX4" fmla="*/ 0 w 2633663"/>
              <a:gd name="connsiteY4" fmla="*/ 0 h 2057400"/>
              <a:gd name="connsiteX0" fmla="*/ 983974 w 2633663"/>
              <a:gd name="connsiteY0" fmla="*/ 576470 h 2057400"/>
              <a:gd name="connsiteX1" fmla="*/ 2633663 w 2633663"/>
              <a:gd name="connsiteY1" fmla="*/ 0 h 2057400"/>
              <a:gd name="connsiteX2" fmla="*/ 2633663 w 2633663"/>
              <a:gd name="connsiteY2" fmla="*/ 2057400 h 2057400"/>
              <a:gd name="connsiteX3" fmla="*/ 0 w 2633663"/>
              <a:gd name="connsiteY3" fmla="*/ 2057400 h 2057400"/>
              <a:gd name="connsiteX4" fmla="*/ 983974 w 2633663"/>
              <a:gd name="connsiteY4" fmla="*/ 576470 h 2057400"/>
              <a:gd name="connsiteX0" fmla="*/ 983974 w 4084776"/>
              <a:gd name="connsiteY0" fmla="*/ 576470 h 2057400"/>
              <a:gd name="connsiteX1" fmla="*/ 2633663 w 4084776"/>
              <a:gd name="connsiteY1" fmla="*/ 0 h 2057400"/>
              <a:gd name="connsiteX2" fmla="*/ 4084776 w 4084776"/>
              <a:gd name="connsiteY2" fmla="*/ 2057400 h 2057400"/>
              <a:gd name="connsiteX3" fmla="*/ 0 w 4084776"/>
              <a:gd name="connsiteY3" fmla="*/ 2057400 h 2057400"/>
              <a:gd name="connsiteX4" fmla="*/ 983974 w 4084776"/>
              <a:gd name="connsiteY4" fmla="*/ 576470 h 2057400"/>
              <a:gd name="connsiteX0" fmla="*/ 983974 w 4084776"/>
              <a:gd name="connsiteY0" fmla="*/ 2196548 h 3677478"/>
              <a:gd name="connsiteX1" fmla="*/ 4074837 w 4084776"/>
              <a:gd name="connsiteY1" fmla="*/ 0 h 3677478"/>
              <a:gd name="connsiteX2" fmla="*/ 4084776 w 4084776"/>
              <a:gd name="connsiteY2" fmla="*/ 3677478 h 3677478"/>
              <a:gd name="connsiteX3" fmla="*/ 0 w 4084776"/>
              <a:gd name="connsiteY3" fmla="*/ 3677478 h 3677478"/>
              <a:gd name="connsiteX4" fmla="*/ 983974 w 4084776"/>
              <a:gd name="connsiteY4" fmla="*/ 2196548 h 3677478"/>
              <a:gd name="connsiteX0" fmla="*/ 2286000 w 4084776"/>
              <a:gd name="connsiteY0" fmla="*/ 228601 h 3677478"/>
              <a:gd name="connsiteX1" fmla="*/ 4074837 w 4084776"/>
              <a:gd name="connsiteY1" fmla="*/ 0 h 3677478"/>
              <a:gd name="connsiteX2" fmla="*/ 4084776 w 4084776"/>
              <a:gd name="connsiteY2" fmla="*/ 3677478 h 3677478"/>
              <a:gd name="connsiteX3" fmla="*/ 0 w 4084776"/>
              <a:gd name="connsiteY3" fmla="*/ 3677478 h 3677478"/>
              <a:gd name="connsiteX4" fmla="*/ 2286000 w 4084776"/>
              <a:gd name="connsiteY4" fmla="*/ 228601 h 3677478"/>
              <a:gd name="connsiteX0" fmla="*/ 2286000 w 4084776"/>
              <a:gd name="connsiteY0" fmla="*/ 49696 h 3498573"/>
              <a:gd name="connsiteX1" fmla="*/ 4064898 w 4084776"/>
              <a:gd name="connsiteY1" fmla="*/ 0 h 3498573"/>
              <a:gd name="connsiteX2" fmla="*/ 4084776 w 4084776"/>
              <a:gd name="connsiteY2" fmla="*/ 3498573 h 3498573"/>
              <a:gd name="connsiteX3" fmla="*/ 0 w 4084776"/>
              <a:gd name="connsiteY3" fmla="*/ 3498573 h 3498573"/>
              <a:gd name="connsiteX4" fmla="*/ 2286000 w 4084776"/>
              <a:gd name="connsiteY4" fmla="*/ 49696 h 3498573"/>
              <a:gd name="connsiteX0" fmla="*/ 2146853 w 4084776"/>
              <a:gd name="connsiteY0" fmla="*/ 258418 h 3498573"/>
              <a:gd name="connsiteX1" fmla="*/ 4064898 w 4084776"/>
              <a:gd name="connsiteY1" fmla="*/ 0 h 3498573"/>
              <a:gd name="connsiteX2" fmla="*/ 4084776 w 4084776"/>
              <a:gd name="connsiteY2" fmla="*/ 3498573 h 3498573"/>
              <a:gd name="connsiteX3" fmla="*/ 0 w 4084776"/>
              <a:gd name="connsiteY3" fmla="*/ 3498573 h 3498573"/>
              <a:gd name="connsiteX4" fmla="*/ 2146853 w 4084776"/>
              <a:gd name="connsiteY4" fmla="*/ 258418 h 3498573"/>
              <a:gd name="connsiteX0" fmla="*/ 2295940 w 4084776"/>
              <a:gd name="connsiteY0" fmla="*/ 29818 h 3498573"/>
              <a:gd name="connsiteX1" fmla="*/ 4064898 w 4084776"/>
              <a:gd name="connsiteY1" fmla="*/ 0 h 3498573"/>
              <a:gd name="connsiteX2" fmla="*/ 4084776 w 4084776"/>
              <a:gd name="connsiteY2" fmla="*/ 3498573 h 3498573"/>
              <a:gd name="connsiteX3" fmla="*/ 0 w 4084776"/>
              <a:gd name="connsiteY3" fmla="*/ 3498573 h 3498573"/>
              <a:gd name="connsiteX4" fmla="*/ 2295940 w 4084776"/>
              <a:gd name="connsiteY4" fmla="*/ 29818 h 3498573"/>
              <a:gd name="connsiteX0" fmla="*/ 2295940 w 4084776"/>
              <a:gd name="connsiteY0" fmla="*/ 0 h 3468755"/>
              <a:gd name="connsiteX1" fmla="*/ 4064898 w 4084776"/>
              <a:gd name="connsiteY1" fmla="*/ 19877 h 3468755"/>
              <a:gd name="connsiteX2" fmla="*/ 4084776 w 4084776"/>
              <a:gd name="connsiteY2" fmla="*/ 3468755 h 3468755"/>
              <a:gd name="connsiteX3" fmla="*/ 0 w 4084776"/>
              <a:gd name="connsiteY3" fmla="*/ 3468755 h 3468755"/>
              <a:gd name="connsiteX4" fmla="*/ 2295940 w 4084776"/>
              <a:gd name="connsiteY4" fmla="*/ 0 h 3468755"/>
              <a:gd name="connsiteX0" fmla="*/ 2295940 w 4084776"/>
              <a:gd name="connsiteY0" fmla="*/ 9941 h 3478696"/>
              <a:gd name="connsiteX1" fmla="*/ 4064898 w 4084776"/>
              <a:gd name="connsiteY1" fmla="*/ 0 h 3478696"/>
              <a:gd name="connsiteX2" fmla="*/ 4084776 w 4084776"/>
              <a:gd name="connsiteY2" fmla="*/ 3478696 h 3478696"/>
              <a:gd name="connsiteX3" fmla="*/ 0 w 4084776"/>
              <a:gd name="connsiteY3" fmla="*/ 3478696 h 3478696"/>
              <a:gd name="connsiteX4" fmla="*/ 2295940 w 4084776"/>
              <a:gd name="connsiteY4" fmla="*/ 9941 h 3478696"/>
              <a:gd name="connsiteX0" fmla="*/ 2295940 w 4084776"/>
              <a:gd name="connsiteY0" fmla="*/ 0 h 3468755"/>
              <a:gd name="connsiteX1" fmla="*/ 4084776 w 4084776"/>
              <a:gd name="connsiteY1" fmla="*/ 9937 h 3468755"/>
              <a:gd name="connsiteX2" fmla="*/ 4084776 w 4084776"/>
              <a:gd name="connsiteY2" fmla="*/ 3468755 h 3468755"/>
              <a:gd name="connsiteX3" fmla="*/ 0 w 4084776"/>
              <a:gd name="connsiteY3" fmla="*/ 3468755 h 3468755"/>
              <a:gd name="connsiteX4" fmla="*/ 2295940 w 4084776"/>
              <a:gd name="connsiteY4" fmla="*/ 0 h 346875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4776" h="3468755">
                <a:moveTo>
                  <a:pt x="2295940" y="0"/>
                </a:moveTo>
                <a:lnTo>
                  <a:pt x="4084776" y="9937"/>
                </a:lnTo>
                <a:lnTo>
                  <a:pt x="4084776" y="3468755"/>
                </a:lnTo>
                <a:lnTo>
                  <a:pt x="0" y="3468755"/>
                </a:lnTo>
                <a:lnTo>
                  <a:pt x="2295940" y="0"/>
                </a:lnTo>
                <a:close/>
              </a:path>
            </a:pathLst>
          </a:custGeom>
        </p:spPr>
        <p:txBody>
          <a:bodyPr anchor="ctr"/>
          <a:lstStyle>
            <a:lvl1pPr marL="0" indent="0" algn="ctr">
              <a:buNone/>
              <a:defRPr sz="1200">
                <a:solidFill>
                  <a:schemeClr val="bg1"/>
                </a:solidFill>
              </a:defRPr>
            </a:lvl1pPr>
          </a:lstStyle>
          <a:p>
            <a:r>
              <a:rPr lang="en-US"/>
              <a:t>Click icon to add image</a:t>
            </a:r>
          </a:p>
        </p:txBody>
      </p:sp>
      <p:sp>
        <p:nvSpPr>
          <p:cNvPr id="20" name="Text Placeholder 19">
            <a:extLst>
              <a:ext uri="{FF2B5EF4-FFF2-40B4-BE49-F238E27FC236}">
                <a16:creationId xmlns:a16="http://schemas.microsoft.com/office/drawing/2014/main" id="{B2E3F95C-6BC1-954E-B5BC-B218F5D8513A}"/>
              </a:ext>
            </a:extLst>
          </p:cNvPr>
          <p:cNvSpPr>
            <a:spLocks noGrp="1"/>
          </p:cNvSpPr>
          <p:nvPr>
            <p:ph type="body" sz="quarter" idx="18" hasCustomPrompt="1"/>
          </p:nvPr>
        </p:nvSpPr>
        <p:spPr>
          <a:xfrm>
            <a:off x="1702014" y="4883470"/>
            <a:ext cx="3068770" cy="311404"/>
          </a:xfrm>
          <a:prstGeom prst="rect">
            <a:avLst/>
          </a:prstGeom>
        </p:spPr>
        <p:txBody>
          <a:bodyPr lIns="0"/>
          <a:lstStyle>
            <a:lvl1pPr marL="0" indent="0">
              <a:buFont typeface="Arial" panose="020B0604020202020204" pitchFamily="34" charset="0"/>
              <a:buNone/>
              <a:defRPr sz="1400">
                <a:solidFill>
                  <a:schemeClr val="bg1"/>
                </a:solidFill>
              </a:defRPr>
            </a:lvl1pPr>
          </a:lstStyle>
          <a:p>
            <a:r>
              <a:rPr lang="en-US"/>
              <a:t>Presenter Name</a:t>
            </a:r>
          </a:p>
        </p:txBody>
      </p:sp>
      <p:sp>
        <p:nvSpPr>
          <p:cNvPr id="24" name="Text Placeholder 19">
            <a:extLst>
              <a:ext uri="{FF2B5EF4-FFF2-40B4-BE49-F238E27FC236}">
                <a16:creationId xmlns:a16="http://schemas.microsoft.com/office/drawing/2014/main" id="{93EE2A9E-4A0E-094D-853D-BB11A55356D9}"/>
              </a:ext>
            </a:extLst>
          </p:cNvPr>
          <p:cNvSpPr>
            <a:spLocks noGrp="1"/>
          </p:cNvSpPr>
          <p:nvPr>
            <p:ph type="body" sz="quarter" idx="20" hasCustomPrompt="1"/>
          </p:nvPr>
        </p:nvSpPr>
        <p:spPr>
          <a:xfrm>
            <a:off x="1702014" y="5261046"/>
            <a:ext cx="3068770" cy="811763"/>
          </a:xfrm>
          <a:prstGeom prst="rect">
            <a:avLst/>
          </a:prstGeom>
        </p:spPr>
        <p:txBody>
          <a:bodyPr lIns="0" tIns="0"/>
          <a:lstStyle>
            <a:lvl1pPr marL="0" indent="0">
              <a:buFont typeface="Arial" panose="020B0604020202020204" pitchFamily="34" charset="0"/>
              <a:buNone/>
              <a:defRPr sz="1200" i="1">
                <a:solidFill>
                  <a:schemeClr val="bg1"/>
                </a:solidFill>
              </a:defRPr>
            </a:lvl1pPr>
          </a:lstStyle>
          <a:p>
            <a:r>
              <a:rPr lang="en-US"/>
              <a:t>Presenter info</a:t>
            </a:r>
          </a:p>
        </p:txBody>
      </p:sp>
      <p:sp>
        <p:nvSpPr>
          <p:cNvPr id="26" name="Text Placeholder 19">
            <a:extLst>
              <a:ext uri="{FF2B5EF4-FFF2-40B4-BE49-F238E27FC236}">
                <a16:creationId xmlns:a16="http://schemas.microsoft.com/office/drawing/2014/main" id="{15971480-DA63-A34A-B7C3-38E067E18164}"/>
              </a:ext>
            </a:extLst>
          </p:cNvPr>
          <p:cNvSpPr>
            <a:spLocks noGrp="1"/>
          </p:cNvSpPr>
          <p:nvPr>
            <p:ph type="body" sz="quarter" idx="21" hasCustomPrompt="1"/>
          </p:nvPr>
        </p:nvSpPr>
        <p:spPr>
          <a:xfrm>
            <a:off x="5051499" y="4883470"/>
            <a:ext cx="3068770" cy="311404"/>
          </a:xfrm>
          <a:prstGeom prst="rect">
            <a:avLst/>
          </a:prstGeom>
        </p:spPr>
        <p:txBody>
          <a:bodyPr lIns="0"/>
          <a:lstStyle>
            <a:lvl1pPr marL="0" indent="0">
              <a:buFont typeface="Arial" panose="020B0604020202020204" pitchFamily="34" charset="0"/>
              <a:buNone/>
              <a:defRPr sz="1400">
                <a:solidFill>
                  <a:schemeClr val="bg1"/>
                </a:solidFill>
              </a:defRPr>
            </a:lvl1pPr>
          </a:lstStyle>
          <a:p>
            <a:r>
              <a:rPr lang="en-US"/>
              <a:t>Presenter Name</a:t>
            </a:r>
          </a:p>
        </p:txBody>
      </p:sp>
      <p:sp>
        <p:nvSpPr>
          <p:cNvPr id="27" name="Text Placeholder 19">
            <a:extLst>
              <a:ext uri="{FF2B5EF4-FFF2-40B4-BE49-F238E27FC236}">
                <a16:creationId xmlns:a16="http://schemas.microsoft.com/office/drawing/2014/main" id="{401CE450-A2A5-DC47-BF61-6813F82C3E6F}"/>
              </a:ext>
            </a:extLst>
          </p:cNvPr>
          <p:cNvSpPr>
            <a:spLocks noGrp="1"/>
          </p:cNvSpPr>
          <p:nvPr>
            <p:ph type="body" sz="quarter" idx="22" hasCustomPrompt="1"/>
          </p:nvPr>
        </p:nvSpPr>
        <p:spPr>
          <a:xfrm>
            <a:off x="5051499" y="5261046"/>
            <a:ext cx="3068770" cy="811763"/>
          </a:xfrm>
          <a:prstGeom prst="rect">
            <a:avLst/>
          </a:prstGeom>
        </p:spPr>
        <p:txBody>
          <a:bodyPr lIns="0" tIns="0"/>
          <a:lstStyle>
            <a:lvl1pPr marL="0" indent="0">
              <a:buFont typeface="Arial" panose="020B0604020202020204" pitchFamily="34" charset="0"/>
              <a:buNone/>
              <a:defRPr sz="1200" i="1">
                <a:solidFill>
                  <a:schemeClr val="bg1"/>
                </a:solidFill>
              </a:defRPr>
            </a:lvl1pPr>
          </a:lstStyle>
          <a:p>
            <a:r>
              <a:rPr lang="en-US"/>
              <a:t>Presenter info</a:t>
            </a:r>
          </a:p>
        </p:txBody>
      </p:sp>
      <p:cxnSp>
        <p:nvCxnSpPr>
          <p:cNvPr id="29" name="Straight Connector 28">
            <a:extLst>
              <a:ext uri="{FF2B5EF4-FFF2-40B4-BE49-F238E27FC236}">
                <a16:creationId xmlns:a16="http://schemas.microsoft.com/office/drawing/2014/main" id="{D6684514-85F7-7444-BCD3-0CEE6086A00D}"/>
              </a:ext>
            </a:extLst>
          </p:cNvPr>
          <p:cNvCxnSpPr>
            <a:cxnSpLocks/>
          </p:cNvCxnSpPr>
          <p:nvPr userDrawn="1"/>
        </p:nvCxnSpPr>
        <p:spPr>
          <a:xfrm>
            <a:off x="1702013" y="4800600"/>
            <a:ext cx="6418256" cy="0"/>
          </a:xfrm>
          <a:prstGeom prst="line">
            <a:avLst/>
          </a:prstGeom>
          <a:ln w="9525">
            <a:solidFill>
              <a:srgbClr val="0076A8"/>
            </a:solidFill>
          </a:ln>
        </p:spPr>
        <p:style>
          <a:lnRef idx="1">
            <a:schemeClr val="accent1"/>
          </a:lnRef>
          <a:fillRef idx="0">
            <a:schemeClr val="accent1"/>
          </a:fillRef>
          <a:effectRef idx="0">
            <a:schemeClr val="accent1"/>
          </a:effectRef>
          <a:fontRef idx="minor">
            <a:schemeClr val="tx1"/>
          </a:fontRef>
        </p:style>
      </p:cxnSp>
      <p:sp>
        <p:nvSpPr>
          <p:cNvPr id="13" name="Copyright">
            <a:extLst>
              <a:ext uri="{FF2B5EF4-FFF2-40B4-BE49-F238E27FC236}">
                <a16:creationId xmlns:a16="http://schemas.microsoft.com/office/drawing/2014/main" id="{66553D6E-0414-4240-B27A-B84778A084A4}"/>
              </a:ext>
            </a:extLst>
          </p:cNvPr>
          <p:cNvSpPr txBox="1"/>
          <p:nvPr userDrawn="1"/>
        </p:nvSpPr>
        <p:spPr>
          <a:xfrm>
            <a:off x="1702013" y="6430509"/>
            <a:ext cx="6390037" cy="215444"/>
          </a:xfrm>
          <a:prstGeom prst="rect">
            <a:avLst/>
          </a:prstGeom>
          <a:noFill/>
        </p:spPr>
        <p:txBody>
          <a:bodyPr wrap="square" lIns="0" rtlCol="0">
            <a:spAutoFit/>
          </a:bodyPr>
          <a:lstStyle/>
          <a:p>
            <a:r>
              <a:rPr lang="en-US" sz="800">
                <a:solidFill>
                  <a:schemeClr val="bg1">
                    <a:lumMod val="75000"/>
                  </a:schemeClr>
                </a:solidFill>
                <a:latin typeface="Arial" pitchFamily="34" charset="0"/>
                <a:cs typeface="Arial" pitchFamily="34" charset="0"/>
              </a:rPr>
              <a:t>© 2026 The MathWorks, Inc.</a:t>
            </a:r>
          </a:p>
        </p:txBody>
      </p:sp>
    </p:spTree>
    <p:extLst>
      <p:ext uri="{BB962C8B-B14F-4D97-AF65-F5344CB8AC3E}">
        <p14:creationId xmlns:p14="http://schemas.microsoft.com/office/powerpoint/2010/main" val="396583981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cNvSpPr>
            <a:spLocks noGrp="1"/>
          </p:cNvSpPr>
          <p:nvPr>
            <p:ph type="title"/>
          </p:nvPr>
        </p:nvSpPr>
        <p:spPr>
          <a:xfrm>
            <a:off x="609602" y="457200"/>
            <a:ext cx="10769600" cy="990600"/>
          </a:xfrm>
          <a:prstGeom prst="rect">
            <a:avLst/>
          </a:prstGeom>
        </p:spPr>
        <p:txBody>
          <a:bodyPr vert="horz" lIns="91440" tIns="45720" rIns="91440" bIns="45720" rtlCol="0" anchor="t" anchorCtr="0">
            <a:noAutofit/>
          </a:bodyPr>
          <a:lstStyle/>
          <a:p>
            <a:r>
              <a:rPr lang="en-US"/>
              <a:t>Click to edit Master title style</a:t>
            </a:r>
          </a:p>
        </p:txBody>
      </p:sp>
      <p:sp>
        <p:nvSpPr>
          <p:cNvPr id="3" name="Content"/>
          <p:cNvSpPr>
            <a:spLocks noGrp="1"/>
          </p:cNvSpPr>
          <p:nvPr>
            <p:ph type="body" idx="1"/>
          </p:nvPr>
        </p:nvSpPr>
        <p:spPr>
          <a:xfrm>
            <a:off x="609602" y="1600200"/>
            <a:ext cx="10769600" cy="4648200"/>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p:txBody>
      </p:sp>
      <p:sp>
        <p:nvSpPr>
          <p:cNvPr id="8" name="SlideNumber"/>
          <p:cNvSpPr/>
          <p:nvPr/>
        </p:nvSpPr>
        <p:spPr>
          <a:xfrm>
            <a:off x="11582400" y="6484954"/>
            <a:ext cx="609600" cy="381001"/>
          </a:xfrm>
          <a:prstGeom prst="rect">
            <a:avLst/>
          </a:prstGeom>
          <a:noFill/>
          <a:ln w="12700">
            <a:noFill/>
          </a:ln>
        </p:spPr>
        <p:txBody>
          <a:bodyPr wrap="square" anchor="ctr">
            <a:noAutofit/>
          </a:bodyPr>
          <a:lstStyle/>
          <a:p>
            <a:pPr algn="ctr"/>
            <a:fld id="{47FBD1EF-0801-4063-B668-C71608ACC70F}" type="slidenum">
              <a:rPr kumimoji="0" lang="en-US" sz="1203" b="1" i="0" u="none" strike="noStrike" kern="1200" cap="none" spc="0" normalizeH="0" baseline="0" noProof="0" smtClean="0">
                <a:ln>
                  <a:noFill/>
                </a:ln>
                <a:solidFill>
                  <a:schemeClr val="tx2"/>
                </a:solidFill>
                <a:effectLst/>
                <a:uLnTx/>
                <a:uFillTx/>
                <a:latin typeface="Arial" pitchFamily="34" charset="0"/>
                <a:ea typeface="+mn-ea"/>
                <a:cs typeface="Arial" pitchFamily="34" charset="0"/>
              </a:rPr>
              <a:pPr algn="ctr"/>
              <a:t>‹#›</a:t>
            </a:fld>
            <a:endParaRPr lang="en-US" sz="1203" b="1">
              <a:solidFill>
                <a:schemeClr val="tx2"/>
              </a:solidFill>
            </a:endParaRPr>
          </a:p>
        </p:txBody>
      </p:sp>
      <p:pic>
        <p:nvPicPr>
          <p:cNvPr id="12" name="Logo" descr="logo647.png"/>
          <p:cNvPicPr>
            <a:picLocks noChangeAspect="1"/>
          </p:cNvPicPr>
          <p:nvPr/>
        </p:nvPicPr>
        <p:blipFill>
          <a:blip r:embed="rId11" cstate="print"/>
          <a:stretch>
            <a:fillRect/>
          </a:stretch>
        </p:blipFill>
        <p:spPr>
          <a:xfrm>
            <a:off x="10679339" y="23675"/>
            <a:ext cx="1327516" cy="360269"/>
          </a:xfrm>
          <a:prstGeom prst="rect">
            <a:avLst/>
          </a:prstGeom>
          <a:noFill/>
          <a:ln>
            <a:noFill/>
          </a:ln>
        </p:spPr>
      </p:pic>
      <p:cxnSp>
        <p:nvCxnSpPr>
          <p:cNvPr id="13" name="Line"/>
          <p:cNvCxnSpPr/>
          <p:nvPr/>
        </p:nvCxnSpPr>
        <p:spPr>
          <a:xfrm rot="10800000" flipV="1">
            <a:off x="229170" y="176521"/>
            <a:ext cx="10297392" cy="211602"/>
          </a:xfrm>
          <a:prstGeom prst="bentConnector3">
            <a:avLst>
              <a:gd name="adj1" fmla="val 100013"/>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4EB9EFC4-0C07-55BB-43CB-CF359DD0F884}"/>
              </a:ext>
            </a:extLst>
          </p:cNvPr>
          <p:cNvSpPr/>
          <p:nvPr userDrawn="1"/>
        </p:nvSpPr>
        <p:spPr>
          <a:xfrm>
            <a:off x="8602226" y="7193577"/>
            <a:ext cx="457200" cy="307778"/>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8" name="Rectangle 27">
            <a:extLst>
              <a:ext uri="{FF2B5EF4-FFF2-40B4-BE49-F238E27FC236}">
                <a16:creationId xmlns:a16="http://schemas.microsoft.com/office/drawing/2014/main" id="{7B3DB00D-5816-CFD1-0B93-DB59CDCC6830}"/>
              </a:ext>
            </a:extLst>
          </p:cNvPr>
          <p:cNvSpPr/>
          <p:nvPr userDrawn="1"/>
        </p:nvSpPr>
        <p:spPr>
          <a:xfrm>
            <a:off x="9228741" y="7193577"/>
            <a:ext cx="457200" cy="307778"/>
          </a:xfrm>
          <a:prstGeom prst="rect">
            <a:avLst/>
          </a:prstGeom>
          <a:solidFill>
            <a:srgbClr val="0000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29" name="Rectangle 28">
            <a:extLst>
              <a:ext uri="{FF2B5EF4-FFF2-40B4-BE49-F238E27FC236}">
                <a16:creationId xmlns:a16="http://schemas.microsoft.com/office/drawing/2014/main" id="{3F8C20EA-A0DE-590F-ED0A-9B58D0AA0727}"/>
              </a:ext>
            </a:extLst>
          </p:cNvPr>
          <p:cNvSpPr/>
          <p:nvPr userDrawn="1"/>
        </p:nvSpPr>
        <p:spPr>
          <a:xfrm>
            <a:off x="9855256" y="7193577"/>
            <a:ext cx="457200" cy="307778"/>
          </a:xfrm>
          <a:prstGeom prst="rect">
            <a:avLst/>
          </a:prstGeom>
          <a:solidFill>
            <a:srgbClr val="A020F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0" name="Rectangle 29">
            <a:extLst>
              <a:ext uri="{FF2B5EF4-FFF2-40B4-BE49-F238E27FC236}">
                <a16:creationId xmlns:a16="http://schemas.microsoft.com/office/drawing/2014/main" id="{BF1CC28F-AE8F-3BCB-CD51-F835D2636E53}"/>
              </a:ext>
            </a:extLst>
          </p:cNvPr>
          <p:cNvSpPr/>
          <p:nvPr userDrawn="1"/>
        </p:nvSpPr>
        <p:spPr>
          <a:xfrm>
            <a:off x="10481771" y="7193577"/>
            <a:ext cx="457200" cy="307778"/>
          </a:xfrm>
          <a:prstGeom prst="rect">
            <a:avLst/>
          </a:prstGeom>
          <a:solidFill>
            <a:srgbClr val="228B2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1" name="Rectangle 30">
            <a:extLst>
              <a:ext uri="{FF2B5EF4-FFF2-40B4-BE49-F238E27FC236}">
                <a16:creationId xmlns:a16="http://schemas.microsoft.com/office/drawing/2014/main" id="{9D1263EC-582E-BD6D-287A-896C979249CB}"/>
              </a:ext>
            </a:extLst>
          </p:cNvPr>
          <p:cNvSpPr/>
          <p:nvPr userDrawn="1"/>
        </p:nvSpPr>
        <p:spPr>
          <a:xfrm>
            <a:off x="11108286" y="7193577"/>
            <a:ext cx="457200" cy="307778"/>
          </a:xfrm>
          <a:prstGeom prst="rect">
            <a:avLst/>
          </a:prstGeom>
          <a:solidFill>
            <a:srgbClr val="FF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2" name="Rectangle 31">
            <a:extLst>
              <a:ext uri="{FF2B5EF4-FFF2-40B4-BE49-F238E27FC236}">
                <a16:creationId xmlns:a16="http://schemas.microsoft.com/office/drawing/2014/main" id="{94CAE5B0-0532-2F09-B2A6-CFCE719D0E79}"/>
              </a:ext>
            </a:extLst>
          </p:cNvPr>
          <p:cNvSpPr/>
          <p:nvPr userDrawn="1"/>
        </p:nvSpPr>
        <p:spPr>
          <a:xfrm>
            <a:off x="11734800" y="7193577"/>
            <a:ext cx="457200" cy="307778"/>
          </a:xfrm>
          <a:prstGeom prst="rect">
            <a:avLst/>
          </a:prstGeom>
          <a:solidFill>
            <a:srgbClr val="FF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3" name="Rectangle 32">
            <a:extLst>
              <a:ext uri="{FF2B5EF4-FFF2-40B4-BE49-F238E27FC236}">
                <a16:creationId xmlns:a16="http://schemas.microsoft.com/office/drawing/2014/main" id="{3DF609A0-6466-159F-722F-7772420CE816}"/>
              </a:ext>
            </a:extLst>
          </p:cNvPr>
          <p:cNvSpPr/>
          <p:nvPr userDrawn="1"/>
        </p:nvSpPr>
        <p:spPr>
          <a:xfrm>
            <a:off x="3218091" y="7193577"/>
            <a:ext cx="457200" cy="307778"/>
          </a:xfrm>
          <a:prstGeom prst="rect">
            <a:avLst/>
          </a:prstGeom>
          <a:solidFill>
            <a:srgbClr val="B731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4" name="Rectangle 33">
            <a:extLst>
              <a:ext uri="{FF2B5EF4-FFF2-40B4-BE49-F238E27FC236}">
                <a16:creationId xmlns:a16="http://schemas.microsoft.com/office/drawing/2014/main" id="{388A5942-0429-943A-EDB2-9216E3B66685}"/>
              </a:ext>
            </a:extLst>
          </p:cNvPr>
          <p:cNvSpPr/>
          <p:nvPr userDrawn="1"/>
        </p:nvSpPr>
        <p:spPr>
          <a:xfrm>
            <a:off x="3838830" y="7193577"/>
            <a:ext cx="457200" cy="307778"/>
          </a:xfrm>
          <a:prstGeom prst="rect">
            <a:avLst/>
          </a:prstGeom>
          <a:solidFill>
            <a:srgbClr val="F2A9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5" name="Rectangle 34">
            <a:extLst>
              <a:ext uri="{FF2B5EF4-FFF2-40B4-BE49-F238E27FC236}">
                <a16:creationId xmlns:a16="http://schemas.microsoft.com/office/drawing/2014/main" id="{159F8D8F-926E-44FF-B1C6-4B3AD85CB2EB}"/>
              </a:ext>
            </a:extLst>
          </p:cNvPr>
          <p:cNvSpPr/>
          <p:nvPr userDrawn="1"/>
        </p:nvSpPr>
        <p:spPr>
          <a:xfrm>
            <a:off x="4460475" y="7193577"/>
            <a:ext cx="457200" cy="307778"/>
          </a:xfrm>
          <a:prstGeom prst="rect">
            <a:avLst/>
          </a:prstGeom>
          <a:solidFill>
            <a:srgbClr val="48A23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6" name="Rectangle 35">
            <a:extLst>
              <a:ext uri="{FF2B5EF4-FFF2-40B4-BE49-F238E27FC236}">
                <a16:creationId xmlns:a16="http://schemas.microsoft.com/office/drawing/2014/main" id="{3DC833EA-BA73-A76C-28B5-A7EC4E1EB56B}"/>
              </a:ext>
            </a:extLst>
          </p:cNvPr>
          <p:cNvSpPr/>
          <p:nvPr userDrawn="1"/>
        </p:nvSpPr>
        <p:spPr>
          <a:xfrm>
            <a:off x="5062152" y="7193577"/>
            <a:ext cx="457200" cy="307778"/>
          </a:xfrm>
          <a:prstGeom prst="rect">
            <a:avLst/>
          </a:prstGeom>
          <a:solidFill>
            <a:srgbClr val="00A9E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7" name="Rectangle 36">
            <a:extLst>
              <a:ext uri="{FF2B5EF4-FFF2-40B4-BE49-F238E27FC236}">
                <a16:creationId xmlns:a16="http://schemas.microsoft.com/office/drawing/2014/main" id="{28AEA155-1A64-2F59-16E0-F5213228F556}"/>
              </a:ext>
            </a:extLst>
          </p:cNvPr>
          <p:cNvSpPr/>
          <p:nvPr userDrawn="1"/>
        </p:nvSpPr>
        <p:spPr>
          <a:xfrm>
            <a:off x="5688910" y="7193577"/>
            <a:ext cx="457200" cy="307778"/>
          </a:xfrm>
          <a:prstGeom prst="rect">
            <a:avLst/>
          </a:prstGeom>
          <a:solidFill>
            <a:srgbClr val="71509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8" name="Rectangle 37">
            <a:extLst>
              <a:ext uri="{FF2B5EF4-FFF2-40B4-BE49-F238E27FC236}">
                <a16:creationId xmlns:a16="http://schemas.microsoft.com/office/drawing/2014/main" id="{5D0BAB26-8A8A-324A-55BE-722CB3EB2D21}"/>
              </a:ext>
            </a:extLst>
          </p:cNvPr>
          <p:cNvSpPr/>
          <p:nvPr userDrawn="1"/>
        </p:nvSpPr>
        <p:spPr>
          <a:xfrm>
            <a:off x="6309649" y="7193577"/>
            <a:ext cx="457200" cy="307778"/>
          </a:xfrm>
          <a:prstGeom prst="rect">
            <a:avLst/>
          </a:prstGeom>
          <a:solidFill>
            <a:srgbClr val="6365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39" name="Rectangle 38">
            <a:extLst>
              <a:ext uri="{FF2B5EF4-FFF2-40B4-BE49-F238E27FC236}">
                <a16:creationId xmlns:a16="http://schemas.microsoft.com/office/drawing/2014/main" id="{A0097D47-C13A-B30B-A1CF-AB9FD34E9D73}"/>
              </a:ext>
            </a:extLst>
          </p:cNvPr>
          <p:cNvSpPr/>
          <p:nvPr userDrawn="1"/>
        </p:nvSpPr>
        <p:spPr>
          <a:xfrm>
            <a:off x="713498" y="7193577"/>
            <a:ext cx="457200" cy="307778"/>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0" name="Rectangle 39">
            <a:extLst>
              <a:ext uri="{FF2B5EF4-FFF2-40B4-BE49-F238E27FC236}">
                <a16:creationId xmlns:a16="http://schemas.microsoft.com/office/drawing/2014/main" id="{4153EDC8-5D9B-B284-2476-4EA57A468431}"/>
              </a:ext>
            </a:extLst>
          </p:cNvPr>
          <p:cNvSpPr/>
          <p:nvPr userDrawn="1"/>
        </p:nvSpPr>
        <p:spPr>
          <a:xfrm>
            <a:off x="1298456" y="7193577"/>
            <a:ext cx="457200" cy="307778"/>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1" name="TextBox 40">
            <a:extLst>
              <a:ext uri="{FF2B5EF4-FFF2-40B4-BE49-F238E27FC236}">
                <a16:creationId xmlns:a16="http://schemas.microsoft.com/office/drawing/2014/main" id="{367B03DA-9367-DAD0-F282-7378EDBF9F34}"/>
              </a:ext>
            </a:extLst>
          </p:cNvPr>
          <p:cNvSpPr txBox="1"/>
          <p:nvPr userDrawn="1"/>
        </p:nvSpPr>
        <p:spPr>
          <a:xfrm>
            <a:off x="-31888" y="7162800"/>
            <a:ext cx="718688" cy="369332"/>
          </a:xfrm>
          <a:prstGeom prst="rect">
            <a:avLst/>
          </a:prstGeom>
          <a:noFill/>
        </p:spPr>
        <p:txBody>
          <a:bodyPr wrap="square" rtlCol="0">
            <a:spAutoFit/>
          </a:bodyPr>
          <a:lstStyle/>
          <a:p>
            <a:pPr algn="l"/>
            <a:r>
              <a:rPr lang="en-US" sz="900" b="1"/>
              <a:t>BRAND</a:t>
            </a:r>
            <a:br>
              <a:rPr lang="en-US" sz="900" b="1"/>
            </a:br>
            <a:r>
              <a:rPr lang="en-US" sz="900" b="1"/>
              <a:t>COLORS</a:t>
            </a:r>
          </a:p>
        </p:txBody>
      </p:sp>
      <p:sp>
        <p:nvSpPr>
          <p:cNvPr id="42" name="Rectangle 41">
            <a:extLst>
              <a:ext uri="{FF2B5EF4-FFF2-40B4-BE49-F238E27FC236}">
                <a16:creationId xmlns:a16="http://schemas.microsoft.com/office/drawing/2014/main" id="{B235FEAB-2B0C-D216-54C3-E5A79367A052}"/>
              </a:ext>
            </a:extLst>
          </p:cNvPr>
          <p:cNvSpPr/>
          <p:nvPr userDrawn="1"/>
        </p:nvSpPr>
        <p:spPr>
          <a:xfrm>
            <a:off x="2231608" y="7193577"/>
            <a:ext cx="457200" cy="30777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43" name="TextBox 42">
            <a:extLst>
              <a:ext uri="{FF2B5EF4-FFF2-40B4-BE49-F238E27FC236}">
                <a16:creationId xmlns:a16="http://schemas.microsoft.com/office/drawing/2014/main" id="{9E936904-F50F-66D0-E43B-C55A578E8885}"/>
              </a:ext>
            </a:extLst>
          </p:cNvPr>
          <p:cNvSpPr txBox="1"/>
          <p:nvPr userDrawn="1"/>
        </p:nvSpPr>
        <p:spPr>
          <a:xfrm>
            <a:off x="7847405" y="7162800"/>
            <a:ext cx="718688" cy="369332"/>
          </a:xfrm>
          <a:prstGeom prst="rect">
            <a:avLst/>
          </a:prstGeom>
          <a:noFill/>
        </p:spPr>
        <p:txBody>
          <a:bodyPr wrap="square" rtlCol="0">
            <a:spAutoFit/>
          </a:bodyPr>
          <a:lstStyle/>
          <a:p>
            <a:pPr algn="l"/>
            <a:r>
              <a:rPr lang="en-US" sz="900" b="1"/>
              <a:t>CODE</a:t>
            </a:r>
            <a:br>
              <a:rPr lang="en-US" sz="900" b="1"/>
            </a:br>
            <a:r>
              <a:rPr lang="en-US" sz="900" b="1"/>
              <a:t>COLORS</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62" r:id="rId3"/>
    <p:sldLayoutId id="2147483659" r:id="rId4"/>
    <p:sldLayoutId id="2147483663" r:id="rId5"/>
    <p:sldLayoutId id="2147483651" r:id="rId6"/>
    <p:sldLayoutId id="2147483652" r:id="rId7"/>
    <p:sldLayoutId id="2147483664" r:id="rId8"/>
    <p:sldLayoutId id="2147483665" r:id="rId9"/>
  </p:sldLayoutIdLst>
  <p:hf hdr="0" ftr="0" dt="0"/>
  <p:txStyles>
    <p:titleStyle>
      <a:lvl1pPr algn="l" defTabSz="916680" rtl="0" eaLnBrk="1" latinLnBrk="0" hangingPunct="1">
        <a:spcBef>
          <a:spcPct val="0"/>
        </a:spcBef>
        <a:buNone/>
        <a:defRPr sz="2800" b="0" kern="1200">
          <a:solidFill>
            <a:schemeClr val="tx2"/>
          </a:solidFill>
          <a:latin typeface="Arial" pitchFamily="34" charset="0"/>
          <a:ea typeface="+mj-ea"/>
          <a:cs typeface="Arial" pitchFamily="34" charset="0"/>
        </a:defRPr>
      </a:lvl1pPr>
    </p:titleStyle>
    <p:bodyStyle>
      <a:lvl1pPr marL="343755" indent="-343755" algn="l" defTabSz="916680" rtl="0" eaLnBrk="1" latinLnBrk="0" hangingPunct="1">
        <a:spcBef>
          <a:spcPct val="20000"/>
        </a:spcBef>
        <a:buClr>
          <a:schemeClr val="tx2"/>
        </a:buClr>
        <a:buSzPct val="75000"/>
        <a:buFont typeface="Wingdings" pitchFamily="2" charset="2"/>
        <a:buChar char="§"/>
        <a:defRPr sz="2400" kern="1200">
          <a:solidFill>
            <a:schemeClr val="tx1"/>
          </a:solidFill>
          <a:latin typeface="Arial" pitchFamily="34" charset="0"/>
          <a:ea typeface="+mn-ea"/>
          <a:cs typeface="Arial" pitchFamily="34" charset="0"/>
        </a:defRPr>
      </a:lvl1pPr>
      <a:lvl2pPr marL="744802" indent="-286462" algn="l" defTabSz="916680" rtl="0" eaLnBrk="1" latinLnBrk="0" hangingPunct="1">
        <a:spcBef>
          <a:spcPct val="20000"/>
        </a:spcBef>
        <a:buClr>
          <a:schemeClr val="tx2"/>
        </a:buClr>
        <a:buFont typeface="Arial" pitchFamily="34" charset="0"/>
        <a:buChar char="–"/>
        <a:defRPr sz="2000" kern="1200">
          <a:solidFill>
            <a:schemeClr val="tx1"/>
          </a:solidFill>
          <a:latin typeface="Arial" pitchFamily="34" charset="0"/>
          <a:ea typeface="+mn-ea"/>
          <a:cs typeface="Arial" pitchFamily="34" charset="0"/>
        </a:defRPr>
      </a:lvl2pPr>
      <a:lvl3pPr marL="1145850" indent="-229170" algn="l" defTabSz="916680" rtl="0" eaLnBrk="1" latinLnBrk="0" hangingPunct="1">
        <a:spcBef>
          <a:spcPct val="20000"/>
        </a:spcBef>
        <a:buClr>
          <a:schemeClr val="tx2"/>
        </a:buClr>
        <a:buSzPct val="75000"/>
        <a:buFont typeface="Wingdings" pitchFamily="2" charset="2"/>
        <a:buChar char="§"/>
        <a:defRPr sz="1604" kern="1200">
          <a:solidFill>
            <a:schemeClr val="tx1"/>
          </a:solidFill>
          <a:latin typeface="Arial" pitchFamily="34" charset="0"/>
          <a:ea typeface="+mn-ea"/>
          <a:cs typeface="Arial" pitchFamily="34" charset="0"/>
        </a:defRPr>
      </a:lvl3pPr>
      <a:lvl4pPr marL="1604190" indent="-229170" algn="l" defTabSz="916680" rtl="0" eaLnBrk="1" latinLnBrk="0" hangingPunct="1">
        <a:spcBef>
          <a:spcPct val="20000"/>
        </a:spcBef>
        <a:buFont typeface="Arial" pitchFamily="34" charset="0"/>
        <a:buNone/>
        <a:defRPr sz="1604" kern="1200">
          <a:solidFill>
            <a:schemeClr val="tx1"/>
          </a:solidFill>
          <a:latin typeface="Arial" pitchFamily="34" charset="0"/>
          <a:ea typeface="+mn-ea"/>
          <a:cs typeface="Arial" pitchFamily="34" charset="0"/>
        </a:defRPr>
      </a:lvl4pPr>
      <a:lvl5pPr marL="2062531" indent="-229170" algn="l" defTabSz="916680" rtl="0" eaLnBrk="1" latinLnBrk="0" hangingPunct="1">
        <a:spcBef>
          <a:spcPct val="20000"/>
        </a:spcBef>
        <a:buClr>
          <a:schemeClr val="tx2"/>
        </a:buClr>
        <a:buFont typeface="Arial" pitchFamily="34" charset="0"/>
        <a:buChar char="»"/>
        <a:defRPr sz="1404" kern="1200">
          <a:solidFill>
            <a:schemeClr val="tx1"/>
          </a:solidFill>
          <a:latin typeface="Arial" pitchFamily="34" charset="0"/>
          <a:ea typeface="+mn-ea"/>
          <a:cs typeface="Arial" pitchFamily="34" charset="0"/>
        </a:defRPr>
      </a:lvl5pPr>
      <a:lvl6pPr marL="252087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6pPr>
      <a:lvl7pPr marL="297921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7pPr>
      <a:lvl8pPr marL="343755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8pPr>
      <a:lvl9pPr marL="3895891" indent="-229170" algn="l" defTabSz="916680" rtl="0" eaLnBrk="1" latinLnBrk="0" hangingPunct="1">
        <a:spcBef>
          <a:spcPct val="20000"/>
        </a:spcBef>
        <a:buFont typeface="Arial" pitchFamily="34" charset="0"/>
        <a:buChar char="•"/>
        <a:defRPr sz="2005" kern="1200">
          <a:solidFill>
            <a:schemeClr val="tx1"/>
          </a:solidFill>
          <a:latin typeface="+mn-lt"/>
          <a:ea typeface="+mn-ea"/>
          <a:cs typeface="+mn-cs"/>
        </a:defRPr>
      </a:lvl9pPr>
    </p:bodyStyle>
    <p:otherStyle>
      <a:defPPr>
        <a:defRPr lang="en-US"/>
      </a:defPPr>
      <a:lvl1pPr marL="0" algn="l" defTabSz="916680" rtl="0" eaLnBrk="1" latinLnBrk="0" hangingPunct="1">
        <a:defRPr sz="1805" kern="1200">
          <a:solidFill>
            <a:schemeClr val="tx1"/>
          </a:solidFill>
          <a:latin typeface="+mn-lt"/>
          <a:ea typeface="+mn-ea"/>
          <a:cs typeface="+mn-cs"/>
        </a:defRPr>
      </a:lvl1pPr>
      <a:lvl2pPr marL="458340" algn="l" defTabSz="916680" rtl="0" eaLnBrk="1" latinLnBrk="0" hangingPunct="1">
        <a:defRPr sz="1805" kern="1200">
          <a:solidFill>
            <a:schemeClr val="tx1"/>
          </a:solidFill>
          <a:latin typeface="+mn-lt"/>
          <a:ea typeface="+mn-ea"/>
          <a:cs typeface="+mn-cs"/>
        </a:defRPr>
      </a:lvl2pPr>
      <a:lvl3pPr marL="916680" algn="l" defTabSz="916680" rtl="0" eaLnBrk="1" latinLnBrk="0" hangingPunct="1">
        <a:defRPr sz="1805" kern="1200">
          <a:solidFill>
            <a:schemeClr val="tx1"/>
          </a:solidFill>
          <a:latin typeface="+mn-lt"/>
          <a:ea typeface="+mn-ea"/>
          <a:cs typeface="+mn-cs"/>
        </a:defRPr>
      </a:lvl3pPr>
      <a:lvl4pPr marL="1375020" algn="l" defTabSz="916680" rtl="0" eaLnBrk="1" latinLnBrk="0" hangingPunct="1">
        <a:defRPr sz="1805" kern="1200">
          <a:solidFill>
            <a:schemeClr val="tx1"/>
          </a:solidFill>
          <a:latin typeface="+mn-lt"/>
          <a:ea typeface="+mn-ea"/>
          <a:cs typeface="+mn-cs"/>
        </a:defRPr>
      </a:lvl4pPr>
      <a:lvl5pPr marL="1833361" algn="l" defTabSz="916680" rtl="0" eaLnBrk="1" latinLnBrk="0" hangingPunct="1">
        <a:defRPr sz="1805" kern="1200">
          <a:solidFill>
            <a:schemeClr val="tx1"/>
          </a:solidFill>
          <a:latin typeface="+mn-lt"/>
          <a:ea typeface="+mn-ea"/>
          <a:cs typeface="+mn-cs"/>
        </a:defRPr>
      </a:lvl5pPr>
      <a:lvl6pPr marL="2291701" algn="l" defTabSz="916680" rtl="0" eaLnBrk="1" latinLnBrk="0" hangingPunct="1">
        <a:defRPr sz="1805" kern="1200">
          <a:solidFill>
            <a:schemeClr val="tx1"/>
          </a:solidFill>
          <a:latin typeface="+mn-lt"/>
          <a:ea typeface="+mn-ea"/>
          <a:cs typeface="+mn-cs"/>
        </a:defRPr>
      </a:lvl6pPr>
      <a:lvl7pPr marL="2750041" algn="l" defTabSz="916680" rtl="0" eaLnBrk="1" latinLnBrk="0" hangingPunct="1">
        <a:defRPr sz="1805" kern="1200">
          <a:solidFill>
            <a:schemeClr val="tx1"/>
          </a:solidFill>
          <a:latin typeface="+mn-lt"/>
          <a:ea typeface="+mn-ea"/>
          <a:cs typeface="+mn-cs"/>
        </a:defRPr>
      </a:lvl7pPr>
      <a:lvl8pPr marL="3208381" algn="l" defTabSz="916680" rtl="0" eaLnBrk="1" latinLnBrk="0" hangingPunct="1">
        <a:defRPr sz="1805" kern="1200">
          <a:solidFill>
            <a:schemeClr val="tx1"/>
          </a:solidFill>
          <a:latin typeface="+mn-lt"/>
          <a:ea typeface="+mn-ea"/>
          <a:cs typeface="+mn-cs"/>
        </a:defRPr>
      </a:lvl8pPr>
      <a:lvl9pPr marL="3666721" algn="l" defTabSz="916680" rtl="0" eaLnBrk="1" latinLnBrk="0" hangingPunct="1">
        <a:defRPr sz="1805"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9.xml"/><Relationship Id="rId1" Type="http://schemas.openxmlformats.org/officeDocument/2006/relationships/tags" Target="../tags/tag1.xml"/><Relationship Id="rId5" Type="http://schemas.openxmlformats.org/officeDocument/2006/relationships/image" Target="../media/image7.png"/><Relationship Id="rId4" Type="http://schemas.openxmlformats.org/officeDocument/2006/relationships/image" Target="../media/image6.png"/></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4.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64.png"/><Relationship Id="rId7" Type="http://schemas.openxmlformats.org/officeDocument/2006/relationships/image" Target="../media/image15.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hyperlink" Target="https://www.mathworks.com/help/antenna/ug/optimize-yagiuda-using-custom-objective-function.html" TargetMode="External"/><Relationship Id="rId7" Type="http://schemas.openxmlformats.org/officeDocument/2006/relationships/image" Target="../media/image20.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8.pn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26.jpeg"/><Relationship Id="rId3" Type="http://schemas.openxmlformats.org/officeDocument/2006/relationships/image" Target="../media/image22.emf"/><Relationship Id="rId7" Type="http://schemas.openxmlformats.org/officeDocument/2006/relationships/image" Target="../media/image11.jpe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24.png"/><Relationship Id="rId5" Type="http://schemas.openxmlformats.org/officeDocument/2006/relationships/image" Target="../media/image23.png"/><Relationship Id="rId4" Type="http://schemas.openxmlformats.org/officeDocument/2006/relationships/image" Target="../media/image2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91B65F-EA1D-1F76-0B3D-07211161E591}"/>
            </a:ext>
          </a:extLst>
        </p:cNvPr>
        <p:cNvGrpSpPr/>
        <p:nvPr/>
      </p:nvGrpSpPr>
      <p:grpSpPr>
        <a:xfrm>
          <a:off x="0" y="0"/>
          <a:ext cx="0" cy="0"/>
          <a:chOff x="0" y="0"/>
          <a:chExt cx="0" cy="0"/>
        </a:xfrm>
      </p:grpSpPr>
      <p:sp>
        <p:nvSpPr>
          <p:cNvPr id="67" name="Text Placeholder 66">
            <a:extLst>
              <a:ext uri="{FF2B5EF4-FFF2-40B4-BE49-F238E27FC236}">
                <a16:creationId xmlns:a16="http://schemas.microsoft.com/office/drawing/2014/main" id="{52F103B3-30FD-C7B8-A57B-43632D65B94A}"/>
              </a:ext>
            </a:extLst>
          </p:cNvPr>
          <p:cNvSpPr>
            <a:spLocks noGrp="1"/>
          </p:cNvSpPr>
          <p:nvPr>
            <p:ph type="body" sz="quarter" idx="18"/>
          </p:nvPr>
        </p:nvSpPr>
        <p:spPr>
          <a:xfrm>
            <a:off x="1702013" y="4893496"/>
            <a:ext cx="4762955" cy="351509"/>
          </a:xfrm>
        </p:spPr>
        <p:txBody>
          <a:bodyPr vert="horz" lIns="0" tIns="45720" rIns="91440" bIns="45720" rtlCol="0" anchor="t">
            <a:noAutofit/>
          </a:bodyPr>
          <a:lstStyle/>
          <a:p>
            <a:r>
              <a:rPr lang="en-US" dirty="0">
                <a:latin typeface="Arial"/>
                <a:cs typeface="Arial"/>
              </a:rPr>
              <a:t>Sekhar Sekharan– sekhars@mathworks.com</a:t>
            </a:r>
          </a:p>
        </p:txBody>
      </p:sp>
      <p:sp>
        <p:nvSpPr>
          <p:cNvPr id="68" name="Text Placeholder 67">
            <a:extLst>
              <a:ext uri="{FF2B5EF4-FFF2-40B4-BE49-F238E27FC236}">
                <a16:creationId xmlns:a16="http://schemas.microsoft.com/office/drawing/2014/main" id="{05C4B185-9404-89D3-0040-15B21D3A9E4F}"/>
              </a:ext>
            </a:extLst>
          </p:cNvPr>
          <p:cNvSpPr>
            <a:spLocks noGrp="1"/>
          </p:cNvSpPr>
          <p:nvPr>
            <p:ph type="body" sz="quarter" idx="20"/>
          </p:nvPr>
        </p:nvSpPr>
        <p:spPr/>
        <p:txBody>
          <a:bodyPr vert="horz" lIns="0" tIns="0" rIns="91440" bIns="45720" rtlCol="0" anchor="t">
            <a:noAutofit/>
          </a:bodyPr>
          <a:lstStyle/>
          <a:p>
            <a:r>
              <a:rPr lang="en-US" dirty="0">
                <a:latin typeface="Arial"/>
                <a:cs typeface="Arial"/>
              </a:rPr>
              <a:t>Applications Engineer</a:t>
            </a:r>
            <a:endParaRPr lang="en-US" dirty="0"/>
          </a:p>
          <a:p>
            <a:r>
              <a:rPr lang="en-US" dirty="0">
                <a:latin typeface="Arial"/>
                <a:cs typeface="Arial"/>
              </a:rPr>
              <a:t>MathWorks | RF/EM Group</a:t>
            </a:r>
            <a:endParaRPr lang="en-US" dirty="0"/>
          </a:p>
        </p:txBody>
      </p:sp>
      <p:pic>
        <p:nvPicPr>
          <p:cNvPr id="3" name="Picture 2">
            <a:extLst>
              <a:ext uri="{FF2B5EF4-FFF2-40B4-BE49-F238E27FC236}">
                <a16:creationId xmlns:a16="http://schemas.microsoft.com/office/drawing/2014/main" id="{A45F5CE3-EA3A-8790-5D87-0367CBB67225}"/>
              </a:ext>
            </a:extLst>
          </p:cNvPr>
          <p:cNvPicPr>
            <a:picLocks noChangeAspect="1"/>
          </p:cNvPicPr>
          <p:nvPr/>
        </p:nvPicPr>
        <p:blipFill>
          <a:blip r:embed="rId4"/>
          <a:stretch>
            <a:fillRect/>
          </a:stretch>
        </p:blipFill>
        <p:spPr>
          <a:xfrm>
            <a:off x="8401512" y="67773"/>
            <a:ext cx="3731545" cy="3208087"/>
          </a:xfrm>
          <a:prstGeom prst="rect">
            <a:avLst/>
          </a:prstGeom>
        </p:spPr>
      </p:pic>
      <p:sp>
        <p:nvSpPr>
          <p:cNvPr id="64" name="Content Placeholder 63">
            <a:extLst>
              <a:ext uri="{FF2B5EF4-FFF2-40B4-BE49-F238E27FC236}">
                <a16:creationId xmlns:a16="http://schemas.microsoft.com/office/drawing/2014/main" id="{1C84F14F-1D05-5B1B-47CE-30CFA91987FB}"/>
              </a:ext>
            </a:extLst>
          </p:cNvPr>
          <p:cNvSpPr>
            <a:spLocks noGrp="1"/>
          </p:cNvSpPr>
          <p:nvPr>
            <p:ph sz="quarter" idx="10"/>
          </p:nvPr>
        </p:nvSpPr>
        <p:spPr>
          <a:xfrm>
            <a:off x="1436913" y="1853583"/>
            <a:ext cx="8641703" cy="2380319"/>
          </a:xfrm>
        </p:spPr>
        <p:txBody>
          <a:bodyPr anchor="t"/>
          <a:lstStyle/>
          <a:p>
            <a:r>
              <a:rPr lang="en-US" sz="2800" b="0" dirty="0">
                <a:latin typeface="Arial"/>
                <a:cs typeface="Arial"/>
              </a:rPr>
              <a:t>AP-S/URSI — Technical Workshop HD-7</a:t>
            </a:r>
          </a:p>
          <a:p>
            <a:r>
              <a:rPr lang="en-US" sz="2800" b="0" dirty="0">
                <a:latin typeface="Arial"/>
                <a:cs typeface="Arial"/>
              </a:rPr>
              <a:t>AI in Antenna Design and Analysis: From</a:t>
            </a:r>
            <a:endParaRPr lang="en-US" sz="2800" b="0" dirty="0"/>
          </a:p>
          <a:p>
            <a:r>
              <a:rPr lang="en-US" sz="2800" b="0" dirty="0">
                <a:latin typeface="Arial"/>
                <a:cs typeface="Arial"/>
              </a:rPr>
              <a:t>Pretrained Models to System-Level Integration </a:t>
            </a:r>
            <a:endParaRPr lang="en-US" sz="2800" b="0" dirty="0"/>
          </a:p>
          <a:p>
            <a:endParaRPr lang="en-US" sz="1600" b="0" i="1" dirty="0"/>
          </a:p>
          <a:p>
            <a:r>
              <a:rPr lang="en-US" sz="2000" i="1" dirty="0"/>
              <a:t>Part 3: Optimization</a:t>
            </a:r>
            <a:endParaRPr lang="en-US" sz="2000" b="0" i="1" dirty="0">
              <a:solidFill>
                <a:srgbClr val="FFFFFF"/>
              </a:solidFill>
              <a:latin typeface="Arial"/>
              <a:cs typeface="Arial"/>
            </a:endParaRPr>
          </a:p>
        </p:txBody>
      </p:sp>
      <p:sp>
        <p:nvSpPr>
          <p:cNvPr id="4" name="RS_Classification">
            <a:extLst>
              <a:ext uri="{FF2B5EF4-FFF2-40B4-BE49-F238E27FC236}">
                <a16:creationId xmlns:a16="http://schemas.microsoft.com/office/drawing/2014/main" id="{A0B330C4-23BB-4A63-1DDA-14BA5BA573A5}"/>
              </a:ext>
            </a:extLst>
          </p:cNvPr>
          <p:cNvSpPr txBox="1"/>
          <p:nvPr/>
        </p:nvSpPr>
        <p:spPr>
          <a:xfrm>
            <a:off x="11993228" y="6289521"/>
            <a:ext cx="198772" cy="212879"/>
          </a:xfrm>
          <a:prstGeom prst="rect">
            <a:avLst/>
          </a:prstGeom>
          <a:solidFill>
            <a:srgbClr val="FFFFFF">
              <a:alpha val="0"/>
            </a:srgbClr>
          </a:solidFill>
        </p:spPr>
        <p:txBody>
          <a:bodyPr vert="horz" wrap="none" lIns="76200" tIns="36830" rIns="76200" bIns="36830" rtlCol="0" anchor="ctr">
            <a:spAutoFit/>
          </a:bodyPr>
          <a:lstStyle/>
          <a:p>
            <a:r>
              <a:rPr lang="en-US" sz="900" b="1" kern="900" spc="100">
                <a:latin typeface="Arial" pitchFamily="34" charset="0"/>
                <a:cs typeface="Arial" pitchFamily="34" charset="0"/>
              </a:rPr>
              <a:t> </a:t>
            </a:r>
          </a:p>
        </p:txBody>
      </p:sp>
      <p:pic>
        <p:nvPicPr>
          <p:cNvPr id="8" name="Picture 7">
            <a:extLst>
              <a:ext uri="{FF2B5EF4-FFF2-40B4-BE49-F238E27FC236}">
                <a16:creationId xmlns:a16="http://schemas.microsoft.com/office/drawing/2014/main" id="{01D7FB08-1D01-E735-3972-89BF269801C5}"/>
              </a:ext>
            </a:extLst>
          </p:cNvPr>
          <p:cNvPicPr>
            <a:picLocks noChangeAspect="1"/>
          </p:cNvPicPr>
          <p:nvPr/>
        </p:nvPicPr>
        <p:blipFill>
          <a:blip r:embed="rId5"/>
          <a:stretch>
            <a:fillRect/>
          </a:stretch>
        </p:blipFill>
        <p:spPr>
          <a:xfrm>
            <a:off x="8444700" y="3962251"/>
            <a:ext cx="3733992" cy="2895749"/>
          </a:xfrm>
          <a:prstGeom prst="rect">
            <a:avLst/>
          </a:prstGeom>
        </p:spPr>
      </p:pic>
    </p:spTree>
    <p:custDataLst>
      <p:tags r:id="rId1"/>
    </p:custDataLst>
    <p:extLst>
      <p:ext uri="{BB962C8B-B14F-4D97-AF65-F5344CB8AC3E}">
        <p14:creationId xmlns:p14="http://schemas.microsoft.com/office/powerpoint/2010/main" val="34260758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94360" y="384048"/>
            <a:ext cx="5283819" cy="523220"/>
          </a:xfrm>
          <a:prstGeom prst="rect">
            <a:avLst/>
          </a:prstGeom>
          <a:noFill/>
        </p:spPr>
        <p:txBody>
          <a:bodyPr wrap="none">
            <a:spAutoFit/>
          </a:bodyPr>
          <a:lstStyle/>
          <a:p>
            <a:r>
              <a:rPr sz="2800" dirty="0">
                <a:solidFill>
                  <a:srgbClr val="0072BD"/>
                </a:solidFill>
                <a:latin typeface="Arial"/>
              </a:rPr>
              <a:t>Why optimize antenna designs?</a:t>
            </a:r>
          </a:p>
        </p:txBody>
      </p:sp>
      <p:sp>
        <p:nvSpPr>
          <p:cNvPr id="3" name="TextBox 2"/>
          <p:cNvSpPr txBox="1"/>
          <p:nvPr/>
        </p:nvSpPr>
        <p:spPr>
          <a:xfrm>
            <a:off x="609600" y="1341913"/>
            <a:ext cx="5486400" cy="566928"/>
          </a:xfrm>
          <a:prstGeom prst="rect">
            <a:avLst/>
          </a:prstGeom>
          <a:noFill/>
        </p:spPr>
        <p:txBody>
          <a:bodyPr wrap="square" lIns="18288" rIns="18288">
            <a:spAutoFit/>
          </a:bodyPr>
          <a:lstStyle/>
          <a:p>
            <a:r>
              <a:rPr sz="2000" b="1" dirty="0">
                <a:solidFill>
                  <a:srgbClr val="282828"/>
                </a:solidFill>
                <a:latin typeface="Arial"/>
              </a:rPr>
              <a:t>Antenna design is a coupled trade-space problem, not a one-knob tuning problem.</a:t>
            </a:r>
          </a:p>
        </p:txBody>
      </p:sp>
      <p:sp>
        <p:nvSpPr>
          <p:cNvPr id="4" name="TextBox 3"/>
          <p:cNvSpPr txBox="1"/>
          <p:nvPr/>
        </p:nvSpPr>
        <p:spPr>
          <a:xfrm>
            <a:off x="490948" y="2496719"/>
            <a:ext cx="5387232" cy="1960981"/>
          </a:xfrm>
          <a:prstGeom prst="rect">
            <a:avLst/>
          </a:prstGeom>
          <a:noFill/>
        </p:spPr>
        <p:txBody>
          <a:bodyPr wrap="square" tIns="18288" rIns="18288">
            <a:spAutoFit/>
          </a:bodyPr>
          <a:lstStyle/>
          <a:p>
            <a:pPr marL="385750" indent="-285750">
              <a:spcAft>
                <a:spcPts val="600"/>
              </a:spcAft>
              <a:buFont typeface="Arial" panose="020B0604020202020204" pitchFamily="34" charset="0"/>
              <a:buChar char="•"/>
              <a:defRPr sz="1350">
                <a:solidFill>
                  <a:srgbClr val="282828"/>
                </a:solidFill>
                <a:latin typeface="Arial"/>
              </a:defRPr>
            </a:pPr>
            <a:r>
              <a:rPr dirty="0"/>
              <a:t>Geometry variables interact: length, spacing, substrate, feed, array layout</a:t>
            </a:r>
          </a:p>
          <a:p>
            <a:pPr marL="385750" indent="-285750">
              <a:spcAft>
                <a:spcPts val="600"/>
              </a:spcAft>
              <a:buFont typeface="Arial" panose="020B0604020202020204" pitchFamily="34" charset="0"/>
              <a:buChar char="•"/>
              <a:defRPr sz="1350">
                <a:solidFill>
                  <a:srgbClr val="282828"/>
                </a:solidFill>
                <a:latin typeface="Arial"/>
              </a:defRPr>
            </a:pPr>
            <a:r>
              <a:rPr dirty="0"/>
              <a:t>Targets compete: gain/directivity, return loss, bandwidth, side lobes, area</a:t>
            </a:r>
          </a:p>
          <a:p>
            <a:pPr marL="385750" indent="-285750">
              <a:spcAft>
                <a:spcPts val="600"/>
              </a:spcAft>
              <a:buFont typeface="Arial" panose="020B0604020202020204" pitchFamily="34" charset="0"/>
              <a:buChar char="•"/>
              <a:defRPr sz="1350">
                <a:solidFill>
                  <a:srgbClr val="282828"/>
                </a:solidFill>
                <a:latin typeface="Arial"/>
              </a:defRPr>
            </a:pPr>
            <a:r>
              <a:rPr dirty="0"/>
              <a:t>Constraints matter: packaging, fabrication rules, and installed performance</a:t>
            </a:r>
          </a:p>
          <a:p>
            <a:pPr marL="385750" indent="-285750">
              <a:spcAft>
                <a:spcPts val="600"/>
              </a:spcAft>
              <a:buFont typeface="Arial" panose="020B0604020202020204" pitchFamily="34" charset="0"/>
              <a:buChar char="•"/>
              <a:defRPr sz="1350">
                <a:solidFill>
                  <a:srgbClr val="282828"/>
                </a:solidFill>
                <a:latin typeface="Arial"/>
              </a:defRPr>
            </a:pPr>
            <a:r>
              <a:rPr dirty="0"/>
              <a:t>Optimization makes the search repeatable: variables + bounds + objective + constraints</a:t>
            </a:r>
          </a:p>
        </p:txBody>
      </p:sp>
      <p:pic>
        <p:nvPicPr>
          <p:cNvPr id="5" name="Picture 4" descr="image.png"/>
          <p:cNvPicPr>
            <a:picLocks noChangeAspect="1"/>
          </p:cNvPicPr>
          <p:nvPr/>
        </p:nvPicPr>
        <p:blipFill>
          <a:blip r:embed="rId2"/>
          <a:stretch>
            <a:fillRect/>
          </a:stretch>
        </p:blipFill>
        <p:spPr>
          <a:xfrm>
            <a:off x="6492240" y="1005840"/>
            <a:ext cx="2148840" cy="1611630"/>
          </a:xfrm>
          <a:prstGeom prst="rect">
            <a:avLst/>
          </a:prstGeom>
          <a:ln w="9525">
            <a:solidFill>
              <a:srgbClr val="D2D2D2"/>
            </a:solidFill>
          </a:ln>
        </p:spPr>
      </p:pic>
      <p:sp>
        <p:nvSpPr>
          <p:cNvPr id="6" name="TextBox 5"/>
          <p:cNvSpPr txBox="1"/>
          <p:nvPr/>
        </p:nvSpPr>
        <p:spPr>
          <a:xfrm>
            <a:off x="6492240" y="2761488"/>
            <a:ext cx="2148840" cy="228600"/>
          </a:xfrm>
          <a:prstGeom prst="rect">
            <a:avLst/>
          </a:prstGeom>
          <a:noFill/>
        </p:spPr>
        <p:txBody>
          <a:bodyPr wrap="square" lIns="18288" rIns="18288">
            <a:spAutoFit/>
          </a:bodyPr>
          <a:lstStyle/>
          <a:p>
            <a:r>
              <a:rPr sz="900" b="0">
                <a:solidFill>
                  <a:srgbClr val="5F5F5F"/>
                </a:solidFill>
                <a:latin typeface="Arial"/>
              </a:rPr>
              <a:t>Parameterized antenna geometry</a:t>
            </a:r>
          </a:p>
        </p:txBody>
      </p:sp>
      <p:pic>
        <p:nvPicPr>
          <p:cNvPr id="7" name="Picture 6" descr="image.png"/>
          <p:cNvPicPr>
            <a:picLocks noChangeAspect="1"/>
          </p:cNvPicPr>
          <p:nvPr/>
        </p:nvPicPr>
        <p:blipFill>
          <a:blip r:embed="rId3"/>
          <a:stretch>
            <a:fillRect/>
          </a:stretch>
        </p:blipFill>
        <p:spPr>
          <a:xfrm>
            <a:off x="8915400" y="1133856"/>
            <a:ext cx="2240280" cy="1220196"/>
          </a:xfrm>
          <a:prstGeom prst="rect">
            <a:avLst/>
          </a:prstGeom>
          <a:ln w="9525">
            <a:solidFill>
              <a:srgbClr val="D2D2D2"/>
            </a:solidFill>
          </a:ln>
        </p:spPr>
      </p:pic>
      <p:sp>
        <p:nvSpPr>
          <p:cNvPr id="8" name="TextBox 7"/>
          <p:cNvSpPr txBox="1"/>
          <p:nvPr/>
        </p:nvSpPr>
        <p:spPr>
          <a:xfrm>
            <a:off x="8915400" y="2423160"/>
            <a:ext cx="2240280" cy="228600"/>
          </a:xfrm>
          <a:prstGeom prst="rect">
            <a:avLst/>
          </a:prstGeom>
          <a:noFill/>
        </p:spPr>
        <p:txBody>
          <a:bodyPr wrap="square" lIns="18288" rIns="18288">
            <a:spAutoFit/>
          </a:bodyPr>
          <a:lstStyle/>
          <a:p>
            <a:r>
              <a:rPr sz="900" b="0">
                <a:solidFill>
                  <a:srgbClr val="5F5F5F"/>
                </a:solidFill>
                <a:latin typeface="Arial"/>
              </a:rPr>
              <a:t>Candidate variables and optimized values</a:t>
            </a:r>
          </a:p>
        </p:txBody>
      </p:sp>
      <p:pic>
        <p:nvPicPr>
          <p:cNvPr id="9" name="Picture 8" descr="antenna_optimize_app_crop.png"/>
          <p:cNvPicPr>
            <a:picLocks noChangeAspect="1"/>
          </p:cNvPicPr>
          <p:nvPr/>
        </p:nvPicPr>
        <p:blipFill>
          <a:blip r:embed="rId4"/>
          <a:stretch>
            <a:fillRect/>
          </a:stretch>
        </p:blipFill>
        <p:spPr>
          <a:xfrm>
            <a:off x="6355080" y="3337560"/>
            <a:ext cx="4709160" cy="1469257"/>
          </a:xfrm>
          <a:prstGeom prst="rect">
            <a:avLst/>
          </a:prstGeom>
          <a:ln w="9525">
            <a:solidFill>
              <a:srgbClr val="D2D2D2"/>
            </a:solidFill>
          </a:ln>
        </p:spPr>
      </p:pic>
      <p:sp>
        <p:nvSpPr>
          <p:cNvPr id="10" name="TextBox 9"/>
          <p:cNvSpPr txBox="1"/>
          <p:nvPr/>
        </p:nvSpPr>
        <p:spPr>
          <a:xfrm>
            <a:off x="6355080" y="4818888"/>
            <a:ext cx="4709160" cy="228600"/>
          </a:xfrm>
          <a:prstGeom prst="rect">
            <a:avLst/>
          </a:prstGeom>
          <a:noFill/>
        </p:spPr>
        <p:txBody>
          <a:bodyPr wrap="square" lIns="18288" rIns="18288">
            <a:spAutoFit/>
          </a:bodyPr>
          <a:lstStyle/>
          <a:p>
            <a:r>
              <a:rPr sz="900" b="0">
                <a:solidFill>
                  <a:srgbClr val="5F5F5F"/>
                </a:solidFill>
                <a:latin typeface="Arial"/>
              </a:rPr>
              <a:t>App workflow: choose objective, run, review, accept</a:t>
            </a:r>
          </a:p>
        </p:txBody>
      </p:sp>
      <p:sp>
        <p:nvSpPr>
          <p:cNvPr id="11" name="Rounded Rectangle 10"/>
          <p:cNvSpPr/>
          <p:nvPr/>
        </p:nvSpPr>
        <p:spPr>
          <a:xfrm>
            <a:off x="609600" y="5757813"/>
            <a:ext cx="10287000" cy="502920"/>
          </a:xfrm>
          <a:prstGeom prst="roundRect">
            <a:avLst/>
          </a:prstGeom>
          <a:solidFill>
            <a:srgbClr val="EBF4F9"/>
          </a:solidFill>
          <a:ln w="12700">
            <a:solidFill>
              <a:srgbClr val="B4D2E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500" b="1" dirty="0">
                <a:solidFill>
                  <a:srgbClr val="282828"/>
                </a:solidFill>
                <a:latin typeface="Arial"/>
              </a:rPr>
              <a:t>O</a:t>
            </a:r>
            <a:r>
              <a:rPr sz="1500" b="1" dirty="0">
                <a:solidFill>
                  <a:srgbClr val="282828"/>
                </a:solidFill>
                <a:latin typeface="Arial"/>
              </a:rPr>
              <a:t>ptimization converts manual antenna tuning into a measurable design search.</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83652" y="306591"/>
            <a:ext cx="4743606" cy="523220"/>
          </a:xfrm>
          <a:prstGeom prst="rect">
            <a:avLst/>
          </a:prstGeom>
          <a:noFill/>
        </p:spPr>
        <p:txBody>
          <a:bodyPr wrap="none">
            <a:spAutoFit/>
          </a:bodyPr>
          <a:lstStyle/>
          <a:p>
            <a:r>
              <a:rPr sz="2800" dirty="0">
                <a:solidFill>
                  <a:srgbClr val="0072BD"/>
                </a:solidFill>
                <a:latin typeface="Arial"/>
              </a:rPr>
              <a:t>Why surrogate optimization?</a:t>
            </a:r>
          </a:p>
        </p:txBody>
      </p:sp>
      <p:sp>
        <p:nvSpPr>
          <p:cNvPr id="3" name="TextBox 2"/>
          <p:cNvSpPr txBox="1"/>
          <p:nvPr/>
        </p:nvSpPr>
        <p:spPr>
          <a:xfrm>
            <a:off x="658368" y="914400"/>
            <a:ext cx="6400800" cy="566928"/>
          </a:xfrm>
          <a:prstGeom prst="rect">
            <a:avLst/>
          </a:prstGeom>
          <a:noFill/>
        </p:spPr>
        <p:txBody>
          <a:bodyPr wrap="square" lIns="18288" rIns="18288">
            <a:spAutoFit/>
          </a:bodyPr>
          <a:lstStyle/>
          <a:p>
            <a:r>
              <a:rPr sz="2000" b="1">
                <a:solidFill>
                  <a:srgbClr val="282828"/>
                </a:solidFill>
                <a:latin typeface="Arial"/>
              </a:rPr>
              <a:t>Full-wave EM gives the truth, but evaluating every candidate design can dominate runtime.</a:t>
            </a:r>
          </a:p>
        </p:txBody>
      </p:sp>
      <p:sp>
        <p:nvSpPr>
          <p:cNvPr id="4" name="TextBox 3"/>
          <p:cNvSpPr txBox="1"/>
          <p:nvPr/>
        </p:nvSpPr>
        <p:spPr>
          <a:xfrm>
            <a:off x="518922" y="1887968"/>
            <a:ext cx="5754878" cy="1541961"/>
          </a:xfrm>
          <a:prstGeom prst="rect">
            <a:avLst/>
          </a:prstGeom>
          <a:noFill/>
        </p:spPr>
        <p:txBody>
          <a:bodyPr wrap="square" tIns="18288" rIns="18288">
            <a:spAutoFit/>
          </a:bodyPr>
          <a:lstStyle/>
          <a:p>
            <a:pPr marL="385750" indent="-285750">
              <a:spcAft>
                <a:spcPts val="600"/>
              </a:spcAft>
              <a:buFont typeface="Arial" panose="020B0604020202020204" pitchFamily="34" charset="0"/>
              <a:buChar char="•"/>
              <a:defRPr sz="1350">
                <a:solidFill>
                  <a:srgbClr val="282828"/>
                </a:solidFill>
                <a:latin typeface="Arial"/>
              </a:defRPr>
            </a:pPr>
            <a:r>
              <a:rPr dirty="0"/>
              <a:t>Direct global search can need many EM simulations</a:t>
            </a:r>
          </a:p>
          <a:p>
            <a:pPr marL="385750" indent="-285750">
              <a:spcAft>
                <a:spcPts val="600"/>
              </a:spcAft>
              <a:buFont typeface="Arial" panose="020B0604020202020204" pitchFamily="34" charset="0"/>
              <a:buChar char="•"/>
              <a:defRPr sz="1350">
                <a:solidFill>
                  <a:srgbClr val="282828"/>
                </a:solidFill>
                <a:latin typeface="Arial"/>
              </a:defRPr>
            </a:pPr>
            <a:r>
              <a:rPr dirty="0"/>
              <a:t>Many proposed designs are poor and do not deserve a full solve</a:t>
            </a:r>
          </a:p>
          <a:p>
            <a:pPr marL="385750" indent="-285750">
              <a:spcAft>
                <a:spcPts val="600"/>
              </a:spcAft>
              <a:buFont typeface="Arial" panose="020B0604020202020204" pitchFamily="34" charset="0"/>
              <a:buChar char="•"/>
              <a:defRPr sz="1350">
                <a:solidFill>
                  <a:srgbClr val="282828"/>
                </a:solidFill>
                <a:latin typeface="Arial"/>
              </a:defRPr>
            </a:pPr>
            <a:r>
              <a:rPr dirty="0"/>
              <a:t>A surrogate model learns from sampled EM results and prescreens new candidates</a:t>
            </a:r>
          </a:p>
          <a:p>
            <a:pPr marL="385750" indent="-285750">
              <a:spcAft>
                <a:spcPts val="600"/>
              </a:spcAft>
              <a:buFont typeface="Arial" panose="020B0604020202020204" pitchFamily="34" charset="0"/>
              <a:buChar char="•"/>
              <a:defRPr sz="1350">
                <a:solidFill>
                  <a:srgbClr val="282828"/>
                </a:solidFill>
                <a:latin typeface="Arial"/>
              </a:defRPr>
            </a:pPr>
            <a:r>
              <a:rPr dirty="0"/>
              <a:t>Use it when design variables, constraints, or third-party EM loops make brute-force optimization too slow</a:t>
            </a:r>
          </a:p>
        </p:txBody>
      </p:sp>
      <p:pic>
        <p:nvPicPr>
          <p:cNvPr id="7" name="Picture 6" descr="image.jpeg"/>
          <p:cNvPicPr>
            <a:picLocks noChangeAspect="1"/>
          </p:cNvPicPr>
          <p:nvPr/>
        </p:nvPicPr>
        <p:blipFill>
          <a:blip r:embed="rId2"/>
          <a:stretch>
            <a:fillRect/>
          </a:stretch>
        </p:blipFill>
        <p:spPr>
          <a:xfrm>
            <a:off x="7132320" y="1166127"/>
            <a:ext cx="3886200" cy="3007841"/>
          </a:xfrm>
          <a:prstGeom prst="rect">
            <a:avLst/>
          </a:prstGeom>
          <a:ln w="9525">
            <a:solidFill>
              <a:srgbClr val="D2D2D2"/>
            </a:solidFill>
          </a:ln>
        </p:spPr>
      </p:pic>
      <p:sp>
        <p:nvSpPr>
          <p:cNvPr id="8" name="TextBox 7"/>
          <p:cNvSpPr txBox="1"/>
          <p:nvPr/>
        </p:nvSpPr>
        <p:spPr>
          <a:xfrm>
            <a:off x="7223760" y="4315967"/>
            <a:ext cx="3886200" cy="228600"/>
          </a:xfrm>
          <a:prstGeom prst="rect">
            <a:avLst/>
          </a:prstGeom>
          <a:noFill/>
        </p:spPr>
        <p:txBody>
          <a:bodyPr wrap="square" lIns="18288" rIns="18288">
            <a:spAutoFit/>
          </a:bodyPr>
          <a:lstStyle/>
          <a:p>
            <a:r>
              <a:rPr sz="900" b="0" dirty="0">
                <a:solidFill>
                  <a:srgbClr val="5F5F5F"/>
                </a:solidFill>
                <a:latin typeface="Arial"/>
              </a:rPr>
              <a:t>Surrogate-assisted loop: sample → model → prescreen → EM verify</a:t>
            </a:r>
          </a:p>
        </p:txBody>
      </p:sp>
      <p:sp>
        <p:nvSpPr>
          <p:cNvPr id="11" name="Rounded Rectangle 10"/>
          <p:cNvSpPr/>
          <p:nvPr/>
        </p:nvSpPr>
        <p:spPr>
          <a:xfrm>
            <a:off x="731520" y="5852160"/>
            <a:ext cx="10287000" cy="502920"/>
          </a:xfrm>
          <a:prstGeom prst="roundRect">
            <a:avLst/>
          </a:prstGeom>
          <a:solidFill>
            <a:srgbClr val="EBF4F9"/>
          </a:solidFill>
          <a:ln w="12700">
            <a:solidFill>
              <a:srgbClr val="B4D2E1"/>
            </a:solidFill>
          </a:ln>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400" b="1" dirty="0">
                <a:solidFill>
                  <a:srgbClr val="282828"/>
                </a:solidFill>
                <a:latin typeface="Arial"/>
              </a:rPr>
              <a:t>K</a:t>
            </a:r>
            <a:r>
              <a:rPr sz="1400" b="1" dirty="0">
                <a:solidFill>
                  <a:srgbClr val="282828"/>
                </a:solidFill>
                <a:latin typeface="Arial"/>
              </a:rPr>
              <a:t>eep EM as the source of truth; use the surrogate to decide where to spend EM time.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4D7EC-9D10-8914-2293-6C89C7D8887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018673-1086-73FB-E127-F0DD276401BA}"/>
              </a:ext>
            </a:extLst>
          </p:cNvPr>
          <p:cNvSpPr>
            <a:spLocks noGrp="1"/>
          </p:cNvSpPr>
          <p:nvPr>
            <p:ph type="title"/>
          </p:nvPr>
        </p:nvSpPr>
        <p:spPr>
          <a:xfrm>
            <a:off x="609602" y="457200"/>
            <a:ext cx="10769600" cy="990600"/>
          </a:xfrm>
        </p:spPr>
        <p:txBody>
          <a:bodyPr anchor="t">
            <a:normAutofit/>
          </a:bodyPr>
          <a:lstStyle/>
          <a:p>
            <a:r>
              <a:rPr lang="en-US" dirty="0"/>
              <a:t>Surrogate-Based Optimization</a:t>
            </a:r>
            <a:br>
              <a:rPr lang="en-US" dirty="0"/>
            </a:br>
            <a:r>
              <a:rPr lang="en-US" sz="2000" i="1" dirty="0"/>
              <a:t>Collaboration with Prof. Bo Liu, Univ. Glasgow</a:t>
            </a:r>
            <a:endParaRPr lang="en-US" i="1" dirty="0"/>
          </a:p>
        </p:txBody>
      </p:sp>
      <p:sp>
        <p:nvSpPr>
          <p:cNvPr id="34" name="TextBox 33">
            <a:extLst>
              <a:ext uri="{FF2B5EF4-FFF2-40B4-BE49-F238E27FC236}">
                <a16:creationId xmlns:a16="http://schemas.microsoft.com/office/drawing/2014/main" id="{E3E31B47-7422-BEA6-43BD-3BC43943E37E}"/>
              </a:ext>
            </a:extLst>
          </p:cNvPr>
          <p:cNvSpPr txBox="1"/>
          <p:nvPr/>
        </p:nvSpPr>
        <p:spPr>
          <a:xfrm>
            <a:off x="24979" y="1646268"/>
            <a:ext cx="8111956" cy="707886"/>
          </a:xfrm>
          <a:prstGeom prst="rect">
            <a:avLst/>
          </a:prstGeom>
          <a:noFill/>
        </p:spPr>
        <p:txBody>
          <a:bodyPr wrap="square" rtlCol="0">
            <a:spAutoFit/>
          </a:bodyPr>
          <a:lstStyle/>
          <a:p>
            <a:r>
              <a:rPr lang="en-US" sz="2000" b="1">
                <a:latin typeface="Arial" pitchFamily="34" charset="0"/>
                <a:cs typeface="Arial" pitchFamily="34" charset="0"/>
              </a:rPr>
              <a:t>S</a:t>
            </a:r>
            <a:r>
              <a:rPr lang="en-US" sz="2000">
                <a:latin typeface="Arial" pitchFamily="34" charset="0"/>
                <a:cs typeface="Arial" pitchFamily="34" charset="0"/>
              </a:rPr>
              <a:t>urrogate model </a:t>
            </a:r>
            <a:r>
              <a:rPr lang="en-US" sz="2000" b="1">
                <a:latin typeface="Arial" pitchFamily="34" charset="0"/>
                <a:cs typeface="Arial" pitchFamily="34" charset="0"/>
              </a:rPr>
              <a:t>A</a:t>
            </a:r>
            <a:r>
              <a:rPr lang="en-US" sz="2000">
                <a:latin typeface="Arial" pitchFamily="34" charset="0"/>
                <a:cs typeface="Arial" pitchFamily="34" charset="0"/>
              </a:rPr>
              <a:t>ssisted </a:t>
            </a:r>
            <a:r>
              <a:rPr lang="en-US" sz="2000" b="1">
                <a:latin typeface="Arial" pitchFamily="34" charset="0"/>
                <a:cs typeface="Arial" pitchFamily="34" charset="0"/>
              </a:rPr>
              <a:t>D</a:t>
            </a:r>
            <a:r>
              <a:rPr lang="en-US" sz="2000">
                <a:latin typeface="Arial" pitchFamily="34" charset="0"/>
                <a:cs typeface="Arial" pitchFamily="34" charset="0"/>
              </a:rPr>
              <a:t>ifferential </a:t>
            </a:r>
            <a:r>
              <a:rPr lang="en-US" sz="2000" b="1">
                <a:latin typeface="Arial" pitchFamily="34" charset="0"/>
                <a:cs typeface="Arial" pitchFamily="34" charset="0"/>
              </a:rPr>
              <a:t>E</a:t>
            </a:r>
            <a:r>
              <a:rPr lang="en-US" sz="2000">
                <a:latin typeface="Arial" pitchFamily="34" charset="0"/>
                <a:cs typeface="Arial" pitchFamily="34" charset="0"/>
              </a:rPr>
              <a:t>volution for </a:t>
            </a:r>
            <a:r>
              <a:rPr lang="en-US" sz="2000" b="1">
                <a:latin typeface="Arial" pitchFamily="34" charset="0"/>
                <a:cs typeface="Arial" pitchFamily="34" charset="0"/>
              </a:rPr>
              <a:t>A</a:t>
            </a:r>
            <a:r>
              <a:rPr lang="en-US" sz="2000">
                <a:latin typeface="Arial" pitchFamily="34" charset="0"/>
                <a:cs typeface="Arial" pitchFamily="34" charset="0"/>
              </a:rPr>
              <a:t>ntenna synthesis (SADEA) is an AI-driven antenna design method</a:t>
            </a:r>
          </a:p>
        </p:txBody>
      </p:sp>
      <p:sp>
        <p:nvSpPr>
          <p:cNvPr id="16" name="Freeform: Shape 15">
            <a:extLst>
              <a:ext uri="{FF2B5EF4-FFF2-40B4-BE49-F238E27FC236}">
                <a16:creationId xmlns:a16="http://schemas.microsoft.com/office/drawing/2014/main" id="{36B229FC-D342-D688-5E4D-B22DF27EB20D}"/>
              </a:ext>
            </a:extLst>
          </p:cNvPr>
          <p:cNvSpPr/>
          <p:nvPr/>
        </p:nvSpPr>
        <p:spPr>
          <a:xfrm>
            <a:off x="633886" y="2682659"/>
            <a:ext cx="1645920" cy="1097280"/>
          </a:xfrm>
          <a:custGeom>
            <a:avLst/>
            <a:gdLst>
              <a:gd name="connsiteX0" fmla="*/ 0 w 803274"/>
              <a:gd name="connsiteY0" fmla="*/ 246954 h 705119"/>
              <a:gd name="connsiteX1" fmla="*/ 384009 w 803274"/>
              <a:gd name="connsiteY1" fmla="*/ 246954 h 705119"/>
              <a:gd name="connsiteX2" fmla="*/ 384009 w 803274"/>
              <a:gd name="connsiteY2" fmla="*/ 105768 h 705119"/>
              <a:gd name="connsiteX3" fmla="*/ 331125 w 803274"/>
              <a:gd name="connsiteY3" fmla="*/ 105768 h 705119"/>
              <a:gd name="connsiteX4" fmla="*/ 401637 w 803274"/>
              <a:gd name="connsiteY4" fmla="*/ 0 h 705119"/>
              <a:gd name="connsiteX5" fmla="*/ 472149 w 803274"/>
              <a:gd name="connsiteY5" fmla="*/ 105768 h 705119"/>
              <a:gd name="connsiteX6" fmla="*/ 419265 w 803274"/>
              <a:gd name="connsiteY6" fmla="*/ 105768 h 705119"/>
              <a:gd name="connsiteX7" fmla="*/ 419265 w 803274"/>
              <a:gd name="connsiteY7" fmla="*/ 246954 h 705119"/>
              <a:gd name="connsiteX8" fmla="*/ 803274 w 803274"/>
              <a:gd name="connsiteY8" fmla="*/ 246954 h 705119"/>
              <a:gd name="connsiteX9" fmla="*/ 803274 w 803274"/>
              <a:gd name="connsiteY9" fmla="*/ 705119 h 705119"/>
              <a:gd name="connsiteX10" fmla="*/ 0 w 803274"/>
              <a:gd name="connsiteY10" fmla="*/ 705119 h 705119"/>
              <a:gd name="connsiteX11" fmla="*/ 0 w 803274"/>
              <a:gd name="connsiteY11" fmla="*/ 246954 h 70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3274" h="705119">
                <a:moveTo>
                  <a:pt x="803274" y="458165"/>
                </a:moveTo>
                <a:lnTo>
                  <a:pt x="419265" y="458165"/>
                </a:lnTo>
                <a:lnTo>
                  <a:pt x="419265" y="599351"/>
                </a:lnTo>
                <a:lnTo>
                  <a:pt x="472149" y="599351"/>
                </a:lnTo>
                <a:lnTo>
                  <a:pt x="401637" y="705119"/>
                </a:lnTo>
                <a:lnTo>
                  <a:pt x="331125" y="599351"/>
                </a:lnTo>
                <a:lnTo>
                  <a:pt x="384009" y="599351"/>
                </a:lnTo>
                <a:lnTo>
                  <a:pt x="384009" y="458165"/>
                </a:lnTo>
                <a:lnTo>
                  <a:pt x="0" y="458165"/>
                </a:lnTo>
                <a:lnTo>
                  <a:pt x="0" y="0"/>
                </a:lnTo>
                <a:lnTo>
                  <a:pt x="803274" y="0"/>
                </a:lnTo>
                <a:lnTo>
                  <a:pt x="803274" y="458165"/>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130" tIns="92456" rIns="57129" bIns="339249" numCol="1" spcCol="1270" anchor="ctr" anchorCtr="0">
            <a:noAutofit/>
          </a:bodyPr>
          <a:lstStyle/>
          <a:p>
            <a:pPr marL="0" lvl="0" indent="0" algn="ctr" defTabSz="577850">
              <a:lnSpc>
                <a:spcPct val="90000"/>
              </a:lnSpc>
              <a:spcBef>
                <a:spcPct val="0"/>
              </a:spcBef>
              <a:spcAft>
                <a:spcPct val="35000"/>
              </a:spcAft>
              <a:buNone/>
            </a:pPr>
            <a:endParaRPr lang="en-US" sz="2000" kern="1200"/>
          </a:p>
        </p:txBody>
      </p:sp>
      <mc:AlternateContent xmlns:mc="http://schemas.openxmlformats.org/markup-compatibility/2006" xmlns:a14="http://schemas.microsoft.com/office/drawing/2010/main">
        <mc:Choice Requires="a14">
          <p:sp>
            <p:nvSpPr>
              <p:cNvPr id="17" name="Freeform: Shape 16">
                <a:extLst>
                  <a:ext uri="{FF2B5EF4-FFF2-40B4-BE49-F238E27FC236}">
                    <a16:creationId xmlns:a16="http://schemas.microsoft.com/office/drawing/2014/main" id="{65A068A1-0A77-84E7-ACB5-8A53C7921E6C}"/>
                  </a:ext>
                </a:extLst>
              </p:cNvPr>
              <p:cNvSpPr/>
              <p:nvPr/>
            </p:nvSpPr>
            <p:spPr>
              <a:xfrm>
                <a:off x="2292506" y="2682659"/>
                <a:ext cx="3794415" cy="722376"/>
              </a:xfrm>
              <a:custGeom>
                <a:avLst/>
                <a:gdLst>
                  <a:gd name="connsiteX0" fmla="*/ 0 w 2409823"/>
                  <a:gd name="connsiteY0" fmla="*/ 0 h 458327"/>
                  <a:gd name="connsiteX1" fmla="*/ 2409823 w 2409823"/>
                  <a:gd name="connsiteY1" fmla="*/ 0 h 458327"/>
                  <a:gd name="connsiteX2" fmla="*/ 2409823 w 2409823"/>
                  <a:gd name="connsiteY2" fmla="*/ 458327 h 458327"/>
                  <a:gd name="connsiteX3" fmla="*/ 0 w 2409823"/>
                  <a:gd name="connsiteY3" fmla="*/ 458327 h 458327"/>
                  <a:gd name="connsiteX4" fmla="*/ 0 w 2409823"/>
                  <a:gd name="connsiteY4" fmla="*/ 0 h 458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823" h="458327">
                    <a:moveTo>
                      <a:pt x="0" y="0"/>
                    </a:moveTo>
                    <a:lnTo>
                      <a:pt x="2409823" y="0"/>
                    </a:lnTo>
                    <a:lnTo>
                      <a:pt x="2409823" y="458327"/>
                    </a:lnTo>
                    <a:lnTo>
                      <a:pt x="0" y="458327"/>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8883" tIns="139700" rIns="48883" bIns="139700" numCol="1" spcCol="1270" anchor="ctr" anchorCtr="0">
                <a:noAutofit/>
              </a:bodyPr>
              <a:lstStyle/>
              <a:p>
                <a:pPr lvl="0" algn="l" defTabSz="488950">
                  <a:lnSpc>
                    <a:spcPct val="90000"/>
                  </a:lnSpc>
                  <a:spcBef>
                    <a:spcPct val="0"/>
                  </a:spcBef>
                  <a:spcAft>
                    <a:spcPct val="35000"/>
                  </a:spcAft>
                </a:pPr>
                <a:r>
                  <a:rPr lang="en-US" sz="1600" kern="1200"/>
                  <a:t>Generate </a:t>
                </a:r>
                <a:r>
                  <a:rPr lang="el-GR" sz="1600" kern="1200"/>
                  <a:t>α</a:t>
                </a:r>
                <a:r>
                  <a:rPr lang="en-US" sz="1600" kern="1200"/>
                  <a:t> design samples fro</a:t>
                </a:r>
                <a:r>
                  <a:rPr lang="en-US" sz="1600"/>
                  <a:t>m </a:t>
                </a:r>
                <a14:m>
                  <m:oMath xmlns:m="http://schemas.openxmlformats.org/officeDocument/2006/math">
                    <m:sSup>
                      <m:sSupPr>
                        <m:ctrlPr>
                          <a:rPr lang="en-US" sz="1600" i="1" smtClean="0">
                            <a:latin typeface="Cambria Math" panose="02040503050406030204" pitchFamily="18" charset="0"/>
                          </a:rPr>
                        </m:ctrlPr>
                      </m:sSupPr>
                      <m:e>
                        <m:r>
                          <a:rPr lang="en-US" sz="1600" b="0" i="1" smtClean="0">
                            <a:latin typeface="Cambria Math" panose="02040503050406030204" pitchFamily="18" charset="0"/>
                          </a:rPr>
                          <m:t>[</m:t>
                        </m:r>
                        <m:r>
                          <a:rPr lang="en-US" sz="1600" b="0" i="1" smtClean="0">
                            <a:latin typeface="Cambria Math" panose="02040503050406030204" pitchFamily="18" charset="0"/>
                          </a:rPr>
                          <m:t>𝑎</m:t>
                        </m:r>
                        <m:r>
                          <a:rPr lang="en-US" sz="1600" b="0" i="1" smtClean="0">
                            <a:latin typeface="Cambria Math" panose="02040503050406030204" pitchFamily="18" charset="0"/>
                          </a:rPr>
                          <m:t> </m:t>
                        </m:r>
                        <m:r>
                          <a:rPr lang="en-US" sz="1600" b="0" i="1" smtClean="0">
                            <a:latin typeface="Cambria Math" panose="02040503050406030204" pitchFamily="18" charset="0"/>
                          </a:rPr>
                          <m:t>𝑏</m:t>
                        </m:r>
                        <m:r>
                          <a:rPr lang="en-US" sz="1600" b="0" i="1" smtClean="0">
                            <a:latin typeface="Cambria Math" panose="02040503050406030204" pitchFamily="18" charset="0"/>
                          </a:rPr>
                          <m:t>]</m:t>
                        </m:r>
                      </m:e>
                      <m:sup>
                        <m:r>
                          <a:rPr lang="en-US" sz="1600" b="0" i="1" smtClean="0">
                            <a:latin typeface="Cambria Math" panose="02040503050406030204" pitchFamily="18" charset="0"/>
                          </a:rPr>
                          <m:t>𝑑</m:t>
                        </m:r>
                      </m:sup>
                    </m:sSup>
                  </m:oMath>
                </a14:m>
                <a:endParaRPr lang="en-US" sz="1600" kern="1200"/>
              </a:p>
            </p:txBody>
          </p:sp>
        </mc:Choice>
        <mc:Fallback xmlns="">
          <p:sp>
            <p:nvSpPr>
              <p:cNvPr id="17" name="Freeform: Shape 16">
                <a:extLst>
                  <a:ext uri="{FF2B5EF4-FFF2-40B4-BE49-F238E27FC236}">
                    <a16:creationId xmlns:a16="http://schemas.microsoft.com/office/drawing/2014/main" id="{65A068A1-0A77-84E7-ACB5-8A53C7921E6C}"/>
                  </a:ext>
                </a:extLst>
              </p:cNvPr>
              <p:cNvSpPr>
                <a:spLocks noRot="1" noChangeAspect="1" noMove="1" noResize="1" noEditPoints="1" noAdjustHandles="1" noChangeArrowheads="1" noChangeShapeType="1" noTextEdit="1"/>
              </p:cNvSpPr>
              <p:nvPr/>
            </p:nvSpPr>
            <p:spPr>
              <a:xfrm>
                <a:off x="2292506" y="2682659"/>
                <a:ext cx="3794415" cy="722376"/>
              </a:xfrm>
              <a:custGeom>
                <a:avLst/>
                <a:gdLst>
                  <a:gd name="connsiteX0" fmla="*/ 0 w 2409823"/>
                  <a:gd name="connsiteY0" fmla="*/ 0 h 458327"/>
                  <a:gd name="connsiteX1" fmla="*/ 2409823 w 2409823"/>
                  <a:gd name="connsiteY1" fmla="*/ 0 h 458327"/>
                  <a:gd name="connsiteX2" fmla="*/ 2409823 w 2409823"/>
                  <a:gd name="connsiteY2" fmla="*/ 458327 h 458327"/>
                  <a:gd name="connsiteX3" fmla="*/ 0 w 2409823"/>
                  <a:gd name="connsiteY3" fmla="*/ 458327 h 458327"/>
                  <a:gd name="connsiteX4" fmla="*/ 0 w 2409823"/>
                  <a:gd name="connsiteY4" fmla="*/ 0 h 458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823" h="458327">
                    <a:moveTo>
                      <a:pt x="0" y="0"/>
                    </a:moveTo>
                    <a:lnTo>
                      <a:pt x="2409823" y="0"/>
                    </a:lnTo>
                    <a:lnTo>
                      <a:pt x="2409823" y="458327"/>
                    </a:lnTo>
                    <a:lnTo>
                      <a:pt x="0" y="458327"/>
                    </a:lnTo>
                    <a:lnTo>
                      <a:pt x="0" y="0"/>
                    </a:lnTo>
                    <a:close/>
                  </a:path>
                </a:pathLst>
              </a:custGeom>
              <a:blipFill>
                <a:blip r:embed="rId3"/>
                <a:stretch>
                  <a:fillRect l="-1595"/>
                </a:stretch>
              </a:blipFill>
            </p:spPr>
            <p:txBody>
              <a:bodyPr/>
              <a:lstStyle/>
              <a:p>
                <a:r>
                  <a:rPr lang="en-US">
                    <a:noFill/>
                  </a:rPr>
                  <a:t> </a:t>
                </a:r>
              </a:p>
            </p:txBody>
          </p:sp>
        </mc:Fallback>
      </mc:AlternateContent>
      <p:pic>
        <p:nvPicPr>
          <p:cNvPr id="18" name="Picture 17" descr="A yellow lines on a black background&#10;&#10;Description automatically generated">
            <a:extLst>
              <a:ext uri="{FF2B5EF4-FFF2-40B4-BE49-F238E27FC236}">
                <a16:creationId xmlns:a16="http://schemas.microsoft.com/office/drawing/2014/main" id="{423D966F-161D-C27B-AA0D-0F632B22686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8136935" y="894541"/>
            <a:ext cx="2331206" cy="1843186"/>
          </a:xfrm>
          <a:prstGeom prst="rect">
            <a:avLst/>
          </a:prstGeom>
          <a:ln>
            <a:noFill/>
          </a:ln>
        </p:spPr>
      </p:pic>
      <p:pic>
        <p:nvPicPr>
          <p:cNvPr id="20" name="Picture 19" descr="A colorful diagram of a sphere&#10;&#10;Description automatically generated">
            <a:extLst>
              <a:ext uri="{FF2B5EF4-FFF2-40B4-BE49-F238E27FC236}">
                <a16:creationId xmlns:a16="http://schemas.microsoft.com/office/drawing/2014/main" id="{68A34CD3-946F-DBFF-7764-41FBF4171921}"/>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88138" y="3450082"/>
            <a:ext cx="1828800" cy="1371600"/>
          </a:xfrm>
          <a:prstGeom prst="rect">
            <a:avLst/>
          </a:prstGeom>
        </p:spPr>
      </p:pic>
      <p:pic>
        <p:nvPicPr>
          <p:cNvPr id="22" name="Picture 21" descr="A colorful sphere with lines and circles&#10;&#10;Description automatically generated with medium confidence">
            <a:extLst>
              <a:ext uri="{FF2B5EF4-FFF2-40B4-BE49-F238E27FC236}">
                <a16:creationId xmlns:a16="http://schemas.microsoft.com/office/drawing/2014/main" id="{63F1CAE6-A9E9-2B01-2815-A1D42AE5B4E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6416621" y="3450082"/>
            <a:ext cx="1828800" cy="1371600"/>
          </a:xfrm>
          <a:prstGeom prst="rect">
            <a:avLst/>
          </a:prstGeom>
        </p:spPr>
      </p:pic>
      <p:cxnSp>
        <p:nvCxnSpPr>
          <p:cNvPr id="26" name="Straight Arrow Connector 25">
            <a:extLst>
              <a:ext uri="{FF2B5EF4-FFF2-40B4-BE49-F238E27FC236}">
                <a16:creationId xmlns:a16="http://schemas.microsoft.com/office/drawing/2014/main" id="{DA9A6368-5A23-04A7-C651-FEFF289CAB70}"/>
              </a:ext>
            </a:extLst>
          </p:cNvPr>
          <p:cNvCxnSpPr>
            <a:cxnSpLocks/>
            <a:stCxn id="18" idx="2"/>
            <a:endCxn id="22" idx="0"/>
          </p:cNvCxnSpPr>
          <p:nvPr/>
        </p:nvCxnSpPr>
        <p:spPr>
          <a:xfrm flipH="1">
            <a:off x="7331021" y="2737727"/>
            <a:ext cx="1971517" cy="71235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8" name="Straight Arrow Connector 27">
            <a:extLst>
              <a:ext uri="{FF2B5EF4-FFF2-40B4-BE49-F238E27FC236}">
                <a16:creationId xmlns:a16="http://schemas.microsoft.com/office/drawing/2014/main" id="{35B6694E-BC4A-B582-EE0A-1AC69A6792F2}"/>
              </a:ext>
            </a:extLst>
          </p:cNvPr>
          <p:cNvCxnSpPr>
            <a:cxnSpLocks/>
            <a:stCxn id="18" idx="2"/>
            <a:endCxn id="20" idx="0"/>
          </p:cNvCxnSpPr>
          <p:nvPr/>
        </p:nvCxnSpPr>
        <p:spPr>
          <a:xfrm>
            <a:off x="9302538" y="2737727"/>
            <a:ext cx="0" cy="712355"/>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30" name="Straight Arrow Connector 29">
            <a:extLst>
              <a:ext uri="{FF2B5EF4-FFF2-40B4-BE49-F238E27FC236}">
                <a16:creationId xmlns:a16="http://schemas.microsoft.com/office/drawing/2014/main" id="{C673757F-03BB-00A9-9F1B-981FDF929708}"/>
              </a:ext>
            </a:extLst>
          </p:cNvPr>
          <p:cNvCxnSpPr>
            <a:cxnSpLocks/>
            <a:stCxn id="18" idx="2"/>
            <a:endCxn id="78" idx="0"/>
          </p:cNvCxnSpPr>
          <p:nvPr/>
        </p:nvCxnSpPr>
        <p:spPr>
          <a:xfrm>
            <a:off x="9302538" y="2737727"/>
            <a:ext cx="1971517" cy="712353"/>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61" name="TextBox 60">
            <a:extLst>
              <a:ext uri="{FF2B5EF4-FFF2-40B4-BE49-F238E27FC236}">
                <a16:creationId xmlns:a16="http://schemas.microsoft.com/office/drawing/2014/main" id="{7B9A2D5D-DEA9-B3C7-221E-8D9D9C9AAB17}"/>
              </a:ext>
            </a:extLst>
          </p:cNvPr>
          <p:cNvSpPr txBox="1"/>
          <p:nvPr/>
        </p:nvSpPr>
        <p:spPr>
          <a:xfrm>
            <a:off x="7093439" y="2920727"/>
            <a:ext cx="4418197" cy="338554"/>
          </a:xfrm>
          <a:prstGeom prst="rect">
            <a:avLst/>
          </a:prstGeom>
          <a:solidFill>
            <a:schemeClr val="bg1"/>
          </a:solidFill>
        </p:spPr>
        <p:txBody>
          <a:bodyPr wrap="none" rtlCol="0">
            <a:spAutoFit/>
          </a:bodyPr>
          <a:lstStyle/>
          <a:p>
            <a:r>
              <a:rPr lang="el-GR" sz="1600">
                <a:latin typeface="Arial" pitchFamily="34" charset="0"/>
                <a:cs typeface="Arial" pitchFamily="34" charset="0"/>
              </a:rPr>
              <a:t>α</a:t>
            </a:r>
            <a:r>
              <a:rPr lang="en-US" sz="1600">
                <a:latin typeface="Arial" pitchFamily="34" charset="0"/>
                <a:cs typeface="Arial" pitchFamily="34" charset="0"/>
              </a:rPr>
              <a:t> design for reflector length from [0.1 1] meter </a:t>
            </a:r>
          </a:p>
        </p:txBody>
      </p:sp>
      <p:sp>
        <p:nvSpPr>
          <p:cNvPr id="62" name="Freeform: Shape 61">
            <a:extLst>
              <a:ext uri="{FF2B5EF4-FFF2-40B4-BE49-F238E27FC236}">
                <a16:creationId xmlns:a16="http://schemas.microsoft.com/office/drawing/2014/main" id="{B489D625-E354-6E62-2B7B-174C3CDBAEEF}"/>
              </a:ext>
            </a:extLst>
          </p:cNvPr>
          <p:cNvSpPr/>
          <p:nvPr/>
        </p:nvSpPr>
        <p:spPr>
          <a:xfrm>
            <a:off x="633886" y="3841221"/>
            <a:ext cx="1645920" cy="1819656"/>
          </a:xfrm>
          <a:custGeom>
            <a:avLst/>
            <a:gdLst>
              <a:gd name="connsiteX0" fmla="*/ 0 w 803274"/>
              <a:gd name="connsiteY0" fmla="*/ 246954 h 705119"/>
              <a:gd name="connsiteX1" fmla="*/ 384009 w 803274"/>
              <a:gd name="connsiteY1" fmla="*/ 246954 h 705119"/>
              <a:gd name="connsiteX2" fmla="*/ 384009 w 803274"/>
              <a:gd name="connsiteY2" fmla="*/ 105768 h 705119"/>
              <a:gd name="connsiteX3" fmla="*/ 331125 w 803274"/>
              <a:gd name="connsiteY3" fmla="*/ 105768 h 705119"/>
              <a:gd name="connsiteX4" fmla="*/ 401637 w 803274"/>
              <a:gd name="connsiteY4" fmla="*/ 0 h 705119"/>
              <a:gd name="connsiteX5" fmla="*/ 472149 w 803274"/>
              <a:gd name="connsiteY5" fmla="*/ 105768 h 705119"/>
              <a:gd name="connsiteX6" fmla="*/ 419265 w 803274"/>
              <a:gd name="connsiteY6" fmla="*/ 105768 h 705119"/>
              <a:gd name="connsiteX7" fmla="*/ 419265 w 803274"/>
              <a:gd name="connsiteY7" fmla="*/ 246954 h 705119"/>
              <a:gd name="connsiteX8" fmla="*/ 803274 w 803274"/>
              <a:gd name="connsiteY8" fmla="*/ 246954 h 705119"/>
              <a:gd name="connsiteX9" fmla="*/ 803274 w 803274"/>
              <a:gd name="connsiteY9" fmla="*/ 705119 h 705119"/>
              <a:gd name="connsiteX10" fmla="*/ 0 w 803274"/>
              <a:gd name="connsiteY10" fmla="*/ 705119 h 705119"/>
              <a:gd name="connsiteX11" fmla="*/ 0 w 803274"/>
              <a:gd name="connsiteY11" fmla="*/ 246954 h 705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803274" h="705119">
                <a:moveTo>
                  <a:pt x="803274" y="458165"/>
                </a:moveTo>
                <a:lnTo>
                  <a:pt x="419265" y="458165"/>
                </a:lnTo>
                <a:lnTo>
                  <a:pt x="419265" y="599351"/>
                </a:lnTo>
                <a:lnTo>
                  <a:pt x="472149" y="599351"/>
                </a:lnTo>
                <a:lnTo>
                  <a:pt x="401637" y="705119"/>
                </a:lnTo>
                <a:lnTo>
                  <a:pt x="331125" y="599351"/>
                </a:lnTo>
                <a:lnTo>
                  <a:pt x="384009" y="599351"/>
                </a:lnTo>
                <a:lnTo>
                  <a:pt x="384009" y="458165"/>
                </a:lnTo>
                <a:lnTo>
                  <a:pt x="0" y="458165"/>
                </a:lnTo>
                <a:lnTo>
                  <a:pt x="0" y="0"/>
                </a:lnTo>
                <a:lnTo>
                  <a:pt x="803274" y="0"/>
                </a:lnTo>
                <a:lnTo>
                  <a:pt x="803274" y="458165"/>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130" tIns="92456" rIns="57129" bIns="339249" numCol="1" spcCol="1270" anchor="ctr" anchorCtr="0">
            <a:noAutofit/>
          </a:bodyPr>
          <a:lstStyle/>
          <a:p>
            <a:pPr marL="0" lvl="0" indent="0" algn="ctr" defTabSz="577850">
              <a:lnSpc>
                <a:spcPct val="90000"/>
              </a:lnSpc>
              <a:spcBef>
                <a:spcPct val="0"/>
              </a:spcBef>
              <a:spcAft>
                <a:spcPct val="35000"/>
              </a:spcAft>
              <a:buNone/>
            </a:pPr>
            <a:endParaRPr lang="en-US" sz="2000" kern="1200"/>
          </a:p>
        </p:txBody>
      </p:sp>
      <p:sp>
        <p:nvSpPr>
          <p:cNvPr id="63" name="Freeform: Shape 62">
            <a:extLst>
              <a:ext uri="{FF2B5EF4-FFF2-40B4-BE49-F238E27FC236}">
                <a16:creationId xmlns:a16="http://schemas.microsoft.com/office/drawing/2014/main" id="{E868676A-F651-FA33-5D6A-26844F3DC34B}"/>
              </a:ext>
            </a:extLst>
          </p:cNvPr>
          <p:cNvSpPr/>
          <p:nvPr/>
        </p:nvSpPr>
        <p:spPr>
          <a:xfrm>
            <a:off x="2292506" y="3841221"/>
            <a:ext cx="3794415" cy="1188720"/>
          </a:xfrm>
          <a:custGeom>
            <a:avLst/>
            <a:gdLst>
              <a:gd name="connsiteX0" fmla="*/ 0 w 2409823"/>
              <a:gd name="connsiteY0" fmla="*/ 0 h 458327"/>
              <a:gd name="connsiteX1" fmla="*/ 2409823 w 2409823"/>
              <a:gd name="connsiteY1" fmla="*/ 0 h 458327"/>
              <a:gd name="connsiteX2" fmla="*/ 2409823 w 2409823"/>
              <a:gd name="connsiteY2" fmla="*/ 458327 h 458327"/>
              <a:gd name="connsiteX3" fmla="*/ 0 w 2409823"/>
              <a:gd name="connsiteY3" fmla="*/ 458327 h 458327"/>
              <a:gd name="connsiteX4" fmla="*/ 0 w 2409823"/>
              <a:gd name="connsiteY4" fmla="*/ 0 h 458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823" h="458327">
                <a:moveTo>
                  <a:pt x="0" y="0"/>
                </a:moveTo>
                <a:lnTo>
                  <a:pt x="2409823" y="0"/>
                </a:lnTo>
                <a:lnTo>
                  <a:pt x="2409823" y="458327"/>
                </a:lnTo>
                <a:lnTo>
                  <a:pt x="0" y="458327"/>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8883" tIns="139700" rIns="48883" bIns="139700" numCol="1" spcCol="1270" anchor="ctr" anchorCtr="0">
            <a:noAutofit/>
          </a:bodyPr>
          <a:lstStyle/>
          <a:p>
            <a:pPr marL="342900" lvl="0" indent="-342900" algn="l" defTabSz="488950">
              <a:lnSpc>
                <a:spcPct val="90000"/>
              </a:lnSpc>
              <a:spcBef>
                <a:spcPct val="0"/>
              </a:spcBef>
              <a:spcAft>
                <a:spcPct val="35000"/>
              </a:spcAft>
              <a:buFont typeface="+mj-lt"/>
              <a:buAutoNum type="arabicPeriod"/>
            </a:pPr>
            <a:r>
              <a:rPr lang="en-US" sz="1600" kern="1200" dirty="0"/>
              <a:t>Select the </a:t>
            </a:r>
            <a:r>
              <a:rPr lang="el-GR" sz="1600" kern="1200" dirty="0"/>
              <a:t>β</a:t>
            </a:r>
            <a:r>
              <a:rPr lang="en-US" sz="1600" kern="1200" dirty="0"/>
              <a:t> best candidate designs</a:t>
            </a:r>
          </a:p>
          <a:p>
            <a:pPr marL="342900" lvl="0" indent="-342900" defTabSz="488950">
              <a:lnSpc>
                <a:spcPct val="90000"/>
              </a:lnSpc>
              <a:spcBef>
                <a:spcPct val="0"/>
              </a:spcBef>
              <a:spcAft>
                <a:spcPct val="35000"/>
              </a:spcAft>
              <a:buFont typeface="+mj-lt"/>
              <a:buAutoNum type="arabicPeriod"/>
            </a:pPr>
            <a:r>
              <a:rPr lang="en-US" sz="1600" kern="1200" dirty="0"/>
              <a:t>Generate </a:t>
            </a:r>
            <a:r>
              <a:rPr lang="el-GR" sz="1600" dirty="0"/>
              <a:t>β</a:t>
            </a:r>
            <a:r>
              <a:rPr lang="en-US" sz="1600" dirty="0"/>
              <a:t> child solutions</a:t>
            </a:r>
          </a:p>
          <a:p>
            <a:pPr marL="342900" lvl="0" indent="-342900" defTabSz="488950">
              <a:lnSpc>
                <a:spcPct val="90000"/>
              </a:lnSpc>
              <a:spcBef>
                <a:spcPct val="0"/>
              </a:spcBef>
              <a:spcAft>
                <a:spcPct val="35000"/>
              </a:spcAft>
              <a:buFont typeface="+mj-lt"/>
              <a:buAutoNum type="arabicPeriod"/>
            </a:pPr>
            <a:r>
              <a:rPr lang="en-US" sz="1600" kern="1200" dirty="0"/>
              <a:t>Prescreen </a:t>
            </a:r>
            <a:r>
              <a:rPr lang="el-GR" sz="1600" dirty="0"/>
              <a:t>β</a:t>
            </a:r>
            <a:r>
              <a:rPr lang="en-US" sz="1600" dirty="0"/>
              <a:t> child solutions using Gaussian process surrogate model</a:t>
            </a:r>
            <a:endParaRPr lang="en-US" sz="1600" kern="1200" dirty="0"/>
          </a:p>
        </p:txBody>
      </p:sp>
      <p:sp>
        <p:nvSpPr>
          <p:cNvPr id="64" name="Rectangle 63">
            <a:extLst>
              <a:ext uri="{FF2B5EF4-FFF2-40B4-BE49-F238E27FC236}">
                <a16:creationId xmlns:a16="http://schemas.microsoft.com/office/drawing/2014/main" id="{D473ADBE-C135-98DC-F0B3-D9D608C89C8B}"/>
              </a:ext>
            </a:extLst>
          </p:cNvPr>
          <p:cNvSpPr/>
          <p:nvPr/>
        </p:nvSpPr>
        <p:spPr>
          <a:xfrm>
            <a:off x="8347724" y="3450081"/>
            <a:ext cx="1828799" cy="1371599"/>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pic>
        <p:nvPicPr>
          <p:cNvPr id="78" name="Picture 77" descr="A colorful diagram of a sphere&#10;&#10;Description automatically generated">
            <a:extLst>
              <a:ext uri="{FF2B5EF4-FFF2-40B4-BE49-F238E27FC236}">
                <a16:creationId xmlns:a16="http://schemas.microsoft.com/office/drawing/2014/main" id="{FE9917DB-452A-6CF8-4F26-DD3CD3BCCA72}"/>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10359655" y="3450080"/>
            <a:ext cx="1828800" cy="1371600"/>
          </a:xfrm>
          <a:prstGeom prst="rect">
            <a:avLst/>
          </a:prstGeom>
        </p:spPr>
      </p:pic>
      <p:pic>
        <p:nvPicPr>
          <p:cNvPr id="80" name="Picture 79" descr="A colorful diagram of a sphere&#10;&#10;Description automatically generated">
            <a:extLst>
              <a:ext uri="{FF2B5EF4-FFF2-40B4-BE49-F238E27FC236}">
                <a16:creationId xmlns:a16="http://schemas.microsoft.com/office/drawing/2014/main" id="{E83CABA8-E240-269D-07AD-331BC75316FA}"/>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8347723" y="5277659"/>
            <a:ext cx="1828800" cy="1371600"/>
          </a:xfrm>
          <a:prstGeom prst="rect">
            <a:avLst/>
          </a:prstGeom>
        </p:spPr>
      </p:pic>
      <p:pic>
        <p:nvPicPr>
          <p:cNvPr id="82" name="Picture 81" descr="A colorful sphere with lines and circles&#10;&#10;Description automatically generated with medium confidence">
            <a:extLst>
              <a:ext uri="{FF2B5EF4-FFF2-40B4-BE49-F238E27FC236}">
                <a16:creationId xmlns:a16="http://schemas.microsoft.com/office/drawing/2014/main" id="{6B7565F0-3854-D048-752E-378226A64D7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10359655" y="5208188"/>
            <a:ext cx="1828800" cy="1371600"/>
          </a:xfrm>
          <a:prstGeom prst="rect">
            <a:avLst/>
          </a:prstGeom>
        </p:spPr>
      </p:pic>
      <p:pic>
        <p:nvPicPr>
          <p:cNvPr id="84" name="Picture 83" descr="A colorful diagram of a sphere&#10;&#10;Description automatically generated with medium confidence">
            <a:extLst>
              <a:ext uri="{FF2B5EF4-FFF2-40B4-BE49-F238E27FC236}">
                <a16:creationId xmlns:a16="http://schemas.microsoft.com/office/drawing/2014/main" id="{2496975B-A964-AEC2-A82D-8C37D23C9D9E}"/>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416621" y="5211732"/>
            <a:ext cx="1828800" cy="1371600"/>
          </a:xfrm>
          <a:prstGeom prst="rect">
            <a:avLst/>
          </a:prstGeom>
        </p:spPr>
      </p:pic>
      <p:cxnSp>
        <p:nvCxnSpPr>
          <p:cNvPr id="86" name="Straight Arrow Connector 85">
            <a:extLst>
              <a:ext uri="{FF2B5EF4-FFF2-40B4-BE49-F238E27FC236}">
                <a16:creationId xmlns:a16="http://schemas.microsoft.com/office/drawing/2014/main" id="{0955FF34-84E3-55D2-60B1-74AF0849A47E}"/>
              </a:ext>
            </a:extLst>
          </p:cNvPr>
          <p:cNvCxnSpPr>
            <a:stCxn id="64" idx="2"/>
            <a:endCxn id="84" idx="0"/>
          </p:cNvCxnSpPr>
          <p:nvPr/>
        </p:nvCxnSpPr>
        <p:spPr>
          <a:xfrm flipH="1">
            <a:off x="7331021" y="4821680"/>
            <a:ext cx="1931103" cy="390052"/>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8" name="Straight Arrow Connector 87">
            <a:extLst>
              <a:ext uri="{FF2B5EF4-FFF2-40B4-BE49-F238E27FC236}">
                <a16:creationId xmlns:a16="http://schemas.microsoft.com/office/drawing/2014/main" id="{8B04DE95-9FEB-E10F-560B-1B5929582592}"/>
              </a:ext>
            </a:extLst>
          </p:cNvPr>
          <p:cNvCxnSpPr>
            <a:stCxn id="64" idx="2"/>
            <a:endCxn id="80" idx="0"/>
          </p:cNvCxnSpPr>
          <p:nvPr/>
        </p:nvCxnSpPr>
        <p:spPr>
          <a:xfrm flipH="1">
            <a:off x="9262123" y="4821680"/>
            <a:ext cx="1" cy="455979"/>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89" name="Straight Arrow Connector 88">
            <a:extLst>
              <a:ext uri="{FF2B5EF4-FFF2-40B4-BE49-F238E27FC236}">
                <a16:creationId xmlns:a16="http://schemas.microsoft.com/office/drawing/2014/main" id="{C6F90483-4782-C74A-41A2-92E74A46FE01}"/>
              </a:ext>
            </a:extLst>
          </p:cNvPr>
          <p:cNvCxnSpPr>
            <a:cxnSpLocks/>
            <a:stCxn id="20" idx="2"/>
            <a:endCxn id="82" idx="0"/>
          </p:cNvCxnSpPr>
          <p:nvPr/>
        </p:nvCxnSpPr>
        <p:spPr>
          <a:xfrm>
            <a:off x="9302538" y="4821682"/>
            <a:ext cx="1971517" cy="386506"/>
          </a:xfrm>
          <a:prstGeom prst="straightConnector1">
            <a:avLst/>
          </a:prstGeom>
          <a:ln w="9525">
            <a:solidFill>
              <a:schemeClr val="tx1"/>
            </a:solidFill>
            <a:tailEnd type="triangle"/>
          </a:ln>
        </p:spPr>
        <p:style>
          <a:lnRef idx="1">
            <a:schemeClr val="accent1"/>
          </a:lnRef>
          <a:fillRef idx="0">
            <a:schemeClr val="accent1"/>
          </a:fillRef>
          <a:effectRef idx="0">
            <a:schemeClr val="accent1"/>
          </a:effectRef>
          <a:fontRef idx="minor">
            <a:schemeClr val="tx1"/>
          </a:fontRef>
        </p:style>
      </p:cxnSp>
      <p:sp>
        <p:nvSpPr>
          <p:cNvPr id="92" name="Rectangle 91">
            <a:extLst>
              <a:ext uri="{FF2B5EF4-FFF2-40B4-BE49-F238E27FC236}">
                <a16:creationId xmlns:a16="http://schemas.microsoft.com/office/drawing/2014/main" id="{CED3F07B-5645-64C3-205F-452C0B470E88}"/>
              </a:ext>
            </a:extLst>
          </p:cNvPr>
          <p:cNvSpPr/>
          <p:nvPr/>
        </p:nvSpPr>
        <p:spPr>
          <a:xfrm>
            <a:off x="8347723" y="5283551"/>
            <a:ext cx="1828799" cy="1371599"/>
          </a:xfrm>
          <a:prstGeom prst="rect">
            <a:avLst/>
          </a:prstGeom>
          <a:noFill/>
          <a:ln w="38100">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b="1">
              <a:latin typeface="Arial" pitchFamily="34" charset="0"/>
              <a:cs typeface="Arial" pitchFamily="34" charset="0"/>
            </a:endParaRPr>
          </a:p>
        </p:txBody>
      </p:sp>
      <p:sp>
        <p:nvSpPr>
          <p:cNvPr id="93" name="TextBox 92">
            <a:extLst>
              <a:ext uri="{FF2B5EF4-FFF2-40B4-BE49-F238E27FC236}">
                <a16:creationId xmlns:a16="http://schemas.microsoft.com/office/drawing/2014/main" id="{3C0D3DEE-9DC7-C62F-86A6-10787F1D6FE1}"/>
              </a:ext>
            </a:extLst>
          </p:cNvPr>
          <p:cNvSpPr txBox="1"/>
          <p:nvPr/>
        </p:nvSpPr>
        <p:spPr>
          <a:xfrm>
            <a:off x="729760" y="2851452"/>
            <a:ext cx="1526380" cy="400110"/>
          </a:xfrm>
          <a:prstGeom prst="rect">
            <a:avLst/>
          </a:prstGeom>
          <a:noFill/>
        </p:spPr>
        <p:txBody>
          <a:bodyPr wrap="none" rtlCol="0">
            <a:spAutoFit/>
          </a:bodyPr>
          <a:lstStyle/>
          <a:p>
            <a:r>
              <a:rPr lang="en-US" sz="2000">
                <a:solidFill>
                  <a:schemeClr val="bg1"/>
                </a:solidFill>
                <a:latin typeface="Arial" pitchFamily="34" charset="0"/>
                <a:cs typeface="Arial" pitchFamily="34" charset="0"/>
              </a:rPr>
              <a:t>Initialization</a:t>
            </a:r>
          </a:p>
        </p:txBody>
      </p:sp>
      <p:sp>
        <p:nvSpPr>
          <p:cNvPr id="94" name="TextBox 93">
            <a:extLst>
              <a:ext uri="{FF2B5EF4-FFF2-40B4-BE49-F238E27FC236}">
                <a16:creationId xmlns:a16="http://schemas.microsoft.com/office/drawing/2014/main" id="{E82889EA-ED76-90C5-242A-3A7A28293587}"/>
              </a:ext>
            </a:extLst>
          </p:cNvPr>
          <p:cNvSpPr txBox="1"/>
          <p:nvPr/>
        </p:nvSpPr>
        <p:spPr>
          <a:xfrm>
            <a:off x="937294" y="4235526"/>
            <a:ext cx="1109599" cy="400110"/>
          </a:xfrm>
          <a:prstGeom prst="rect">
            <a:avLst/>
          </a:prstGeom>
          <a:noFill/>
        </p:spPr>
        <p:txBody>
          <a:bodyPr wrap="none" rtlCol="0">
            <a:spAutoFit/>
          </a:bodyPr>
          <a:lstStyle/>
          <a:p>
            <a:r>
              <a:rPr lang="en-US" sz="2000">
                <a:solidFill>
                  <a:schemeClr val="bg1"/>
                </a:solidFill>
                <a:latin typeface="Arial" pitchFamily="34" charset="0"/>
                <a:cs typeface="Arial" pitchFamily="34" charset="0"/>
              </a:rPr>
              <a:t>Iteration</a:t>
            </a:r>
          </a:p>
        </p:txBody>
      </p:sp>
      <p:sp>
        <p:nvSpPr>
          <p:cNvPr id="95" name="Freeform: Shape 94">
            <a:extLst>
              <a:ext uri="{FF2B5EF4-FFF2-40B4-BE49-F238E27FC236}">
                <a16:creationId xmlns:a16="http://schemas.microsoft.com/office/drawing/2014/main" id="{3FFE1C82-2BDE-0246-1DD7-9EA90427A019}"/>
              </a:ext>
            </a:extLst>
          </p:cNvPr>
          <p:cNvSpPr/>
          <p:nvPr/>
        </p:nvSpPr>
        <p:spPr>
          <a:xfrm>
            <a:off x="610220" y="5722159"/>
            <a:ext cx="1645920" cy="914400"/>
          </a:xfrm>
          <a:custGeom>
            <a:avLst/>
            <a:gdLst>
              <a:gd name="connsiteX0" fmla="*/ 0 w 803274"/>
              <a:gd name="connsiteY0" fmla="*/ 0 h 458464"/>
              <a:gd name="connsiteX1" fmla="*/ 803274 w 803274"/>
              <a:gd name="connsiteY1" fmla="*/ 0 h 458464"/>
              <a:gd name="connsiteX2" fmla="*/ 803274 w 803274"/>
              <a:gd name="connsiteY2" fmla="*/ 458464 h 458464"/>
              <a:gd name="connsiteX3" fmla="*/ 0 w 803274"/>
              <a:gd name="connsiteY3" fmla="*/ 458464 h 458464"/>
              <a:gd name="connsiteX4" fmla="*/ 0 w 803274"/>
              <a:gd name="connsiteY4" fmla="*/ 0 h 45846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03274" h="458464">
                <a:moveTo>
                  <a:pt x="0" y="0"/>
                </a:moveTo>
                <a:lnTo>
                  <a:pt x="803274" y="0"/>
                </a:lnTo>
                <a:lnTo>
                  <a:pt x="803274" y="458464"/>
                </a:lnTo>
                <a:lnTo>
                  <a:pt x="0" y="458464"/>
                </a:lnTo>
                <a:lnTo>
                  <a:pt x="0" y="0"/>
                </a:lnTo>
                <a:close/>
              </a:path>
            </a:pathLst>
          </a:custGeom>
        </p:spPr>
        <p:style>
          <a:lnRef idx="2">
            <a:schemeClr val="accent2">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spcFirstLastPara="0" vert="horz" wrap="square" lIns="57129" tIns="92456" rIns="57129" bIns="92456" numCol="1" spcCol="1270" anchor="ctr" anchorCtr="0">
            <a:noAutofit/>
          </a:bodyPr>
          <a:lstStyle/>
          <a:p>
            <a:pPr marL="0" lvl="0" indent="0" algn="ctr" defTabSz="577850">
              <a:lnSpc>
                <a:spcPct val="90000"/>
              </a:lnSpc>
              <a:spcBef>
                <a:spcPct val="0"/>
              </a:spcBef>
              <a:spcAft>
                <a:spcPct val="35000"/>
              </a:spcAft>
              <a:buNone/>
            </a:pPr>
            <a:r>
              <a:rPr lang="en-US" kern="1200"/>
              <a:t>Stopping criteria</a:t>
            </a:r>
          </a:p>
        </p:txBody>
      </p:sp>
      <p:sp>
        <p:nvSpPr>
          <p:cNvPr id="98" name="Freeform: Shape 97">
            <a:extLst>
              <a:ext uri="{FF2B5EF4-FFF2-40B4-BE49-F238E27FC236}">
                <a16:creationId xmlns:a16="http://schemas.microsoft.com/office/drawing/2014/main" id="{1B14FA83-81ED-6138-6B28-CB3EF5F288A5}"/>
              </a:ext>
            </a:extLst>
          </p:cNvPr>
          <p:cNvSpPr/>
          <p:nvPr/>
        </p:nvSpPr>
        <p:spPr>
          <a:xfrm>
            <a:off x="2279806" y="5722159"/>
            <a:ext cx="3794415" cy="914400"/>
          </a:xfrm>
          <a:custGeom>
            <a:avLst/>
            <a:gdLst>
              <a:gd name="connsiteX0" fmla="*/ 0 w 2409823"/>
              <a:gd name="connsiteY0" fmla="*/ 0 h 458327"/>
              <a:gd name="connsiteX1" fmla="*/ 2409823 w 2409823"/>
              <a:gd name="connsiteY1" fmla="*/ 0 h 458327"/>
              <a:gd name="connsiteX2" fmla="*/ 2409823 w 2409823"/>
              <a:gd name="connsiteY2" fmla="*/ 458327 h 458327"/>
              <a:gd name="connsiteX3" fmla="*/ 0 w 2409823"/>
              <a:gd name="connsiteY3" fmla="*/ 458327 h 458327"/>
              <a:gd name="connsiteX4" fmla="*/ 0 w 2409823"/>
              <a:gd name="connsiteY4" fmla="*/ 0 h 45832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09823" h="458327">
                <a:moveTo>
                  <a:pt x="0" y="0"/>
                </a:moveTo>
                <a:lnTo>
                  <a:pt x="2409823" y="0"/>
                </a:lnTo>
                <a:lnTo>
                  <a:pt x="2409823" y="458327"/>
                </a:lnTo>
                <a:lnTo>
                  <a:pt x="0" y="458327"/>
                </a:lnTo>
                <a:lnTo>
                  <a:pt x="0" y="0"/>
                </a:lnTo>
                <a:close/>
              </a:path>
            </a:pathLst>
          </a:custGeom>
        </p:spPr>
        <p:style>
          <a:lnRef idx="2">
            <a:schemeClr val="accent2">
              <a:alpha val="90000"/>
              <a:tint val="40000"/>
              <a:hueOff val="0"/>
              <a:satOff val="0"/>
              <a:lumOff val="0"/>
              <a:alphaOff val="0"/>
            </a:schemeClr>
          </a:lnRef>
          <a:fillRef idx="1">
            <a:schemeClr val="accent2">
              <a:alpha val="90000"/>
              <a:tint val="40000"/>
              <a:hueOff val="0"/>
              <a:satOff val="0"/>
              <a:lumOff val="0"/>
              <a:alphaOff val="0"/>
            </a:schemeClr>
          </a:fillRef>
          <a:effectRef idx="0">
            <a:schemeClr val="accent2">
              <a:alpha val="90000"/>
              <a:tint val="40000"/>
              <a:hueOff val="0"/>
              <a:satOff val="0"/>
              <a:lumOff val="0"/>
              <a:alphaOff val="0"/>
            </a:schemeClr>
          </a:effectRef>
          <a:fontRef idx="minor">
            <a:schemeClr val="dk1">
              <a:hueOff val="0"/>
              <a:satOff val="0"/>
              <a:lumOff val="0"/>
              <a:alphaOff val="0"/>
            </a:schemeClr>
          </a:fontRef>
        </p:style>
        <p:txBody>
          <a:bodyPr spcFirstLastPara="0" vert="horz" wrap="square" lIns="48883" tIns="139700" rIns="48883" bIns="139700" numCol="1" spcCol="1270" anchor="ctr" anchorCtr="0">
            <a:noAutofit/>
          </a:bodyPr>
          <a:lstStyle/>
          <a:p>
            <a:pPr marL="285750" lvl="0" indent="-285750" algn="l" defTabSz="488950">
              <a:lnSpc>
                <a:spcPct val="90000"/>
              </a:lnSpc>
              <a:spcBef>
                <a:spcPct val="0"/>
              </a:spcBef>
              <a:spcAft>
                <a:spcPct val="35000"/>
              </a:spcAft>
              <a:buFont typeface="Arial" panose="020B0604020202020204" pitchFamily="34" charset="0"/>
              <a:buChar char="•"/>
            </a:pPr>
            <a:r>
              <a:rPr lang="en-US" sz="1600"/>
              <a:t>The specifications are met</a:t>
            </a:r>
          </a:p>
          <a:p>
            <a:pPr marL="285750" lvl="0" indent="-285750" algn="l" defTabSz="488950">
              <a:lnSpc>
                <a:spcPct val="90000"/>
              </a:lnSpc>
              <a:spcBef>
                <a:spcPct val="0"/>
              </a:spcBef>
              <a:spcAft>
                <a:spcPct val="35000"/>
              </a:spcAft>
              <a:buFont typeface="Arial" panose="020B0604020202020204" pitchFamily="34" charset="0"/>
              <a:buChar char="•"/>
            </a:pPr>
            <a:r>
              <a:rPr lang="en-US" sz="1600" kern="1200"/>
              <a:t>Objective values does not improve for a certain number of iterations</a:t>
            </a:r>
          </a:p>
        </p:txBody>
      </p:sp>
    </p:spTree>
    <p:extLst>
      <p:ext uri="{BB962C8B-B14F-4D97-AF65-F5344CB8AC3E}">
        <p14:creationId xmlns:p14="http://schemas.microsoft.com/office/powerpoint/2010/main" val="1184034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1"/>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7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62"/>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94"/>
                                        </p:tgtEl>
                                        <p:attrNameLst>
                                          <p:attrName>style.visibility</p:attrName>
                                        </p:attrNameLst>
                                      </p:cBhvr>
                                      <p:to>
                                        <p:strVal val="visible"/>
                                      </p:to>
                                    </p:set>
                                  </p:childTnLst>
                                </p:cTn>
                              </p:par>
                            </p:childTnLst>
                          </p:cTn>
                        </p:par>
                        <p:par>
                          <p:cTn id="33" fill="hold">
                            <p:stCondLst>
                              <p:cond delay="0"/>
                            </p:stCondLst>
                            <p:childTnLst>
                              <p:par>
                                <p:cTn id="34" presetID="1" presetClass="entr" presetSubtype="0" fill="hold" grpId="0" nodeType="afterEffect">
                                  <p:stCondLst>
                                    <p:cond delay="0"/>
                                  </p:stCondLst>
                                  <p:childTnLst>
                                    <p:set>
                                      <p:cBhvr>
                                        <p:cTn id="35" dur="1" fill="hold">
                                          <p:stCondLst>
                                            <p:cond delay="0"/>
                                          </p:stCondLst>
                                        </p:cTn>
                                        <p:tgtEl>
                                          <p:spTgt spid="63"/>
                                        </p:tgtEl>
                                        <p:attrNameLst>
                                          <p:attrName>style.visibility</p:attrName>
                                        </p:attrNameLst>
                                      </p:cBhvr>
                                      <p:to>
                                        <p:strVal val="visible"/>
                                      </p:to>
                                    </p:set>
                                  </p:childTnLst>
                                </p:cTn>
                              </p:par>
                              <p:par>
                                <p:cTn id="36" presetID="1" presetClass="entr" presetSubtype="0" fill="hold" grpId="0" nodeType="withEffect">
                                  <p:stCondLst>
                                    <p:cond delay="0"/>
                                  </p:stCondLst>
                                  <p:childTnLst>
                                    <p:set>
                                      <p:cBhvr>
                                        <p:cTn id="37" dur="1" fill="hold">
                                          <p:stCondLst>
                                            <p:cond delay="0"/>
                                          </p:stCondLst>
                                        </p:cTn>
                                        <p:tgtEl>
                                          <p:spTgt spid="64"/>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1" presetClass="entr" presetSubtype="0" fill="hold" nodeType="clickEffect">
                                  <p:stCondLst>
                                    <p:cond delay="0"/>
                                  </p:stCondLst>
                                  <p:childTnLst>
                                    <p:set>
                                      <p:cBhvr>
                                        <p:cTn id="41" dur="1" fill="hold">
                                          <p:stCondLst>
                                            <p:cond delay="0"/>
                                          </p:stCondLst>
                                        </p:cTn>
                                        <p:tgtEl>
                                          <p:spTgt spid="86"/>
                                        </p:tgtEl>
                                        <p:attrNameLst>
                                          <p:attrName>style.visibility</p:attrName>
                                        </p:attrNameLst>
                                      </p:cBhvr>
                                      <p:to>
                                        <p:strVal val="visible"/>
                                      </p:to>
                                    </p:set>
                                  </p:childTnLst>
                                </p:cTn>
                              </p:par>
                              <p:par>
                                <p:cTn id="42" presetID="1" presetClass="entr" presetSubtype="0" fill="hold" nodeType="withEffect">
                                  <p:stCondLst>
                                    <p:cond delay="0"/>
                                  </p:stCondLst>
                                  <p:childTnLst>
                                    <p:set>
                                      <p:cBhvr>
                                        <p:cTn id="43" dur="1" fill="hold">
                                          <p:stCondLst>
                                            <p:cond delay="0"/>
                                          </p:stCondLst>
                                        </p:cTn>
                                        <p:tgtEl>
                                          <p:spTgt spid="84"/>
                                        </p:tgtEl>
                                        <p:attrNameLst>
                                          <p:attrName>style.visibility</p:attrName>
                                        </p:attrNameLst>
                                      </p:cBhvr>
                                      <p:to>
                                        <p:strVal val="visible"/>
                                      </p:to>
                                    </p:set>
                                  </p:childTnLst>
                                </p:cTn>
                              </p:par>
                              <p:par>
                                <p:cTn id="44" presetID="1" presetClass="entr" presetSubtype="0" fill="hold" nodeType="withEffect">
                                  <p:stCondLst>
                                    <p:cond delay="0"/>
                                  </p:stCondLst>
                                  <p:childTnLst>
                                    <p:set>
                                      <p:cBhvr>
                                        <p:cTn id="45" dur="1" fill="hold">
                                          <p:stCondLst>
                                            <p:cond delay="0"/>
                                          </p:stCondLst>
                                        </p:cTn>
                                        <p:tgtEl>
                                          <p:spTgt spid="80"/>
                                        </p:tgtEl>
                                        <p:attrNameLst>
                                          <p:attrName>style.visibility</p:attrName>
                                        </p:attrNameLst>
                                      </p:cBhvr>
                                      <p:to>
                                        <p:strVal val="visible"/>
                                      </p:to>
                                    </p:set>
                                  </p:childTnLst>
                                </p:cTn>
                              </p:par>
                              <p:par>
                                <p:cTn id="46" presetID="1" presetClass="entr" presetSubtype="0" fill="hold" nodeType="withEffect">
                                  <p:stCondLst>
                                    <p:cond delay="0"/>
                                  </p:stCondLst>
                                  <p:childTnLst>
                                    <p:set>
                                      <p:cBhvr>
                                        <p:cTn id="47" dur="1" fill="hold">
                                          <p:stCondLst>
                                            <p:cond delay="0"/>
                                          </p:stCondLst>
                                        </p:cTn>
                                        <p:tgtEl>
                                          <p:spTgt spid="88"/>
                                        </p:tgtEl>
                                        <p:attrNameLst>
                                          <p:attrName>style.visibility</p:attrName>
                                        </p:attrNameLst>
                                      </p:cBhvr>
                                      <p:to>
                                        <p:strVal val="visible"/>
                                      </p:to>
                                    </p:set>
                                  </p:childTnLst>
                                </p:cTn>
                              </p:par>
                              <p:par>
                                <p:cTn id="48" presetID="1" presetClass="entr" presetSubtype="0" fill="hold" nodeType="withEffect">
                                  <p:stCondLst>
                                    <p:cond delay="0"/>
                                  </p:stCondLst>
                                  <p:childTnLst>
                                    <p:set>
                                      <p:cBhvr>
                                        <p:cTn id="49" dur="1" fill="hold">
                                          <p:stCondLst>
                                            <p:cond delay="0"/>
                                          </p:stCondLst>
                                        </p:cTn>
                                        <p:tgtEl>
                                          <p:spTgt spid="89"/>
                                        </p:tgtEl>
                                        <p:attrNameLst>
                                          <p:attrName>style.visibility</p:attrName>
                                        </p:attrNameLst>
                                      </p:cBhvr>
                                      <p:to>
                                        <p:strVal val="visible"/>
                                      </p:to>
                                    </p:set>
                                  </p:childTnLst>
                                </p:cTn>
                              </p:par>
                              <p:par>
                                <p:cTn id="50" presetID="1" presetClass="entr" presetSubtype="0" fill="hold" nodeType="withEffect">
                                  <p:stCondLst>
                                    <p:cond delay="0"/>
                                  </p:stCondLst>
                                  <p:childTnLst>
                                    <p:set>
                                      <p:cBhvr>
                                        <p:cTn id="51" dur="1" fill="hold">
                                          <p:stCondLst>
                                            <p:cond delay="0"/>
                                          </p:stCondLst>
                                        </p:cTn>
                                        <p:tgtEl>
                                          <p:spTgt spid="82"/>
                                        </p:tgtEl>
                                        <p:attrNameLst>
                                          <p:attrName>style.visibility</p:attrName>
                                        </p:attrNameLst>
                                      </p:cBhvr>
                                      <p:to>
                                        <p:strVal val="visible"/>
                                      </p:to>
                                    </p:set>
                                  </p:childTnLst>
                                </p:cTn>
                              </p:par>
                            </p:childTnLst>
                          </p:cTn>
                        </p:par>
                      </p:childTnLst>
                    </p:cTn>
                  </p:par>
                  <p:par>
                    <p:cTn id="52" fill="hold">
                      <p:stCondLst>
                        <p:cond delay="indefinite"/>
                      </p:stCondLst>
                      <p:childTnLst>
                        <p:par>
                          <p:cTn id="53" fill="hold">
                            <p:stCondLst>
                              <p:cond delay="0"/>
                            </p:stCondLst>
                            <p:childTnLst>
                              <p:par>
                                <p:cTn id="54" presetID="1" presetClass="entr" presetSubtype="0" fill="hold" grpId="0" nodeType="clickEffect">
                                  <p:stCondLst>
                                    <p:cond delay="0"/>
                                  </p:stCondLst>
                                  <p:childTnLst>
                                    <p:set>
                                      <p:cBhvr>
                                        <p:cTn id="55" dur="1" fill="hold">
                                          <p:stCondLst>
                                            <p:cond delay="0"/>
                                          </p:stCondLst>
                                        </p:cTn>
                                        <p:tgtEl>
                                          <p:spTgt spid="95"/>
                                        </p:tgtEl>
                                        <p:attrNameLst>
                                          <p:attrName>style.visibility</p:attrName>
                                        </p:attrNameLst>
                                      </p:cBhvr>
                                      <p:to>
                                        <p:strVal val="visible"/>
                                      </p:to>
                                    </p:set>
                                  </p:childTnLst>
                                </p:cTn>
                              </p:par>
                            </p:childTnLst>
                          </p:cTn>
                        </p:par>
                        <p:par>
                          <p:cTn id="56" fill="hold">
                            <p:stCondLst>
                              <p:cond delay="0"/>
                            </p:stCondLst>
                            <p:childTnLst>
                              <p:par>
                                <p:cTn id="57" presetID="1" presetClass="entr" presetSubtype="0" fill="hold" grpId="0" nodeType="afterEffect">
                                  <p:stCondLst>
                                    <p:cond delay="0"/>
                                  </p:stCondLst>
                                  <p:childTnLst>
                                    <p:set>
                                      <p:cBhvr>
                                        <p:cTn id="58" dur="1" fill="hold">
                                          <p:stCondLst>
                                            <p:cond delay="0"/>
                                          </p:stCondLst>
                                        </p:cTn>
                                        <p:tgtEl>
                                          <p:spTgt spid="98"/>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9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61" grpId="0" animBg="1"/>
      <p:bldP spid="62" grpId="0" animBg="1"/>
      <p:bldP spid="63" grpId="0" animBg="1"/>
      <p:bldP spid="64" grpId="0" animBg="1"/>
      <p:bldP spid="92" grpId="0" animBg="1"/>
      <p:bldP spid="93" grpId="0"/>
      <p:bldP spid="94" grpId="0"/>
      <p:bldP spid="95" grpId="0" animBg="1"/>
      <p:bldP spid="9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CEC371-FD71-0D73-241C-F99B4451B2F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A4EFFC-D772-7AF0-97E0-3D1E96327B4E}"/>
              </a:ext>
            </a:extLst>
          </p:cNvPr>
          <p:cNvSpPr>
            <a:spLocks noGrp="1"/>
          </p:cNvSpPr>
          <p:nvPr>
            <p:ph type="title"/>
          </p:nvPr>
        </p:nvSpPr>
        <p:spPr>
          <a:xfrm>
            <a:off x="609602" y="457200"/>
            <a:ext cx="10769600" cy="990600"/>
          </a:xfrm>
        </p:spPr>
        <p:txBody>
          <a:bodyPr anchor="t">
            <a:normAutofit/>
          </a:bodyPr>
          <a:lstStyle/>
          <a:p>
            <a:r>
              <a:rPr lang="en-US" dirty="0"/>
              <a:t>SADEA: Yagi-Uda Optimization Example</a:t>
            </a:r>
          </a:p>
        </p:txBody>
      </p:sp>
      <p:sp>
        <p:nvSpPr>
          <p:cNvPr id="84" name="Content Placeholder 2">
            <a:extLst>
              <a:ext uri="{FF2B5EF4-FFF2-40B4-BE49-F238E27FC236}">
                <a16:creationId xmlns:a16="http://schemas.microsoft.com/office/drawing/2014/main" id="{EE6AF721-0D3C-A30A-DEC1-66F72485AD44}"/>
              </a:ext>
            </a:extLst>
          </p:cNvPr>
          <p:cNvSpPr>
            <a:spLocks noGrp="1"/>
          </p:cNvSpPr>
          <p:nvPr>
            <p:ph idx="1"/>
          </p:nvPr>
        </p:nvSpPr>
        <p:spPr>
          <a:xfrm>
            <a:off x="29361" y="6262038"/>
            <a:ext cx="10379866" cy="595962"/>
          </a:xfrm>
        </p:spPr>
        <p:txBody>
          <a:bodyPr/>
          <a:lstStyle/>
          <a:p>
            <a:pPr marL="0" indent="0">
              <a:buNone/>
            </a:pPr>
            <a:r>
              <a:rPr lang="en-US" sz="1600"/>
              <a:t>SADEA Optimization of Six-Element Yagi-</a:t>
            </a:r>
            <a:r>
              <a:rPr lang="en-US" sz="1600" err="1"/>
              <a:t>Uda</a:t>
            </a:r>
            <a:r>
              <a:rPr lang="en-US" sz="1600"/>
              <a:t> Antenna using Custom Objective Function</a:t>
            </a:r>
            <a:br>
              <a:rPr lang="en-US" sz="1600"/>
            </a:br>
            <a:r>
              <a:rPr lang="en-US" sz="1600">
                <a:hlinkClick r:id="rId3"/>
              </a:rPr>
              <a:t>https://www.mathworks.com/help/antenna/ug/optimize-yagiuda-using-custom-objective-function.html</a:t>
            </a:r>
            <a:endParaRPr lang="en-US" sz="2000"/>
          </a:p>
        </p:txBody>
      </p:sp>
      <p:pic>
        <p:nvPicPr>
          <p:cNvPr id="39" name="Picture 38" descr="A diagram of a graph&#10;&#10;Description automatically generated with medium confidence">
            <a:extLst>
              <a:ext uri="{FF2B5EF4-FFF2-40B4-BE49-F238E27FC236}">
                <a16:creationId xmlns:a16="http://schemas.microsoft.com/office/drawing/2014/main" id="{047665E1-A738-31A1-2D52-C6CA0FE1B082}"/>
              </a:ext>
            </a:extLst>
          </p:cNvPr>
          <p:cNvPicPr>
            <a:picLocks noChangeAspect="1"/>
          </p:cNvPicPr>
          <p:nvPr/>
        </p:nvPicPr>
        <p:blipFill rotWithShape="1">
          <a:blip r:embed="rId4">
            <a:extLst>
              <a:ext uri="{28A0092B-C50C-407E-A947-70E740481C1C}">
                <a14:useLocalDpi xmlns:a14="http://schemas.microsoft.com/office/drawing/2010/main" val="0"/>
              </a:ext>
            </a:extLst>
          </a:blip>
          <a:srcRect l="26284" t="7570" r="29403"/>
          <a:stretch/>
        </p:blipFill>
        <p:spPr>
          <a:xfrm>
            <a:off x="0" y="1166414"/>
            <a:ext cx="2457394" cy="3844323"/>
          </a:xfrm>
          <a:prstGeom prst="rect">
            <a:avLst/>
          </a:prstGeom>
        </p:spPr>
      </p:pic>
      <p:pic>
        <p:nvPicPr>
          <p:cNvPr id="42" name="Picture 41" descr="A computer screen shot of a diagram&#10;&#10;Description automatically generated">
            <a:extLst>
              <a:ext uri="{FF2B5EF4-FFF2-40B4-BE49-F238E27FC236}">
                <a16:creationId xmlns:a16="http://schemas.microsoft.com/office/drawing/2014/main" id="{B7D68A5C-A447-3DBE-D3F9-A62B7EB2A5A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b="18637"/>
          <a:stretch/>
        </p:blipFill>
        <p:spPr>
          <a:xfrm>
            <a:off x="8518895" y="591992"/>
            <a:ext cx="3350381" cy="2043691"/>
          </a:xfrm>
          <a:prstGeom prst="rect">
            <a:avLst/>
          </a:prstGeom>
        </p:spPr>
      </p:pic>
      <p:pic>
        <p:nvPicPr>
          <p:cNvPr id="55" name="Picture 54" descr="A screen shot of a graph&#10;&#10;Description automatically generated">
            <a:extLst>
              <a:ext uri="{FF2B5EF4-FFF2-40B4-BE49-F238E27FC236}">
                <a16:creationId xmlns:a16="http://schemas.microsoft.com/office/drawing/2014/main" id="{26B6B8B6-88A5-37C1-B63C-C47FF6AF9C50}"/>
              </a:ext>
            </a:extLst>
          </p:cNvPr>
          <p:cNvPicPr>
            <a:picLocks noChangeAspect="1"/>
          </p:cNvPicPr>
          <p:nvPr/>
        </p:nvPicPr>
        <p:blipFill rotWithShape="1">
          <a:blip r:embed="rId6">
            <a:extLst>
              <a:ext uri="{28A0092B-C50C-407E-A947-70E740481C1C}">
                <a14:useLocalDpi xmlns:a14="http://schemas.microsoft.com/office/drawing/2010/main" val="0"/>
              </a:ext>
            </a:extLst>
          </a:blip>
          <a:srcRect r="11809"/>
          <a:stretch/>
        </p:blipFill>
        <p:spPr>
          <a:xfrm>
            <a:off x="8518895" y="3352800"/>
            <a:ext cx="3225667" cy="2743200"/>
          </a:xfrm>
          <a:prstGeom prst="rect">
            <a:avLst/>
          </a:prstGeom>
        </p:spPr>
      </p:pic>
      <p:pic>
        <p:nvPicPr>
          <p:cNvPr id="60" name="Picture 59" descr="A screen shot of a graph&#10;&#10;Description automatically generated">
            <a:extLst>
              <a:ext uri="{FF2B5EF4-FFF2-40B4-BE49-F238E27FC236}">
                <a16:creationId xmlns:a16="http://schemas.microsoft.com/office/drawing/2014/main" id="{32E10384-1DBA-6EC1-F925-555F128B58BF}"/>
              </a:ext>
            </a:extLst>
          </p:cNvPr>
          <p:cNvPicPr>
            <a:picLocks noChangeAspect="1"/>
          </p:cNvPicPr>
          <p:nvPr/>
        </p:nvPicPr>
        <p:blipFill rotWithShape="1">
          <a:blip r:embed="rId7">
            <a:extLst>
              <a:ext uri="{28A0092B-C50C-407E-A947-70E740481C1C}">
                <a14:useLocalDpi xmlns:a14="http://schemas.microsoft.com/office/drawing/2010/main" val="0"/>
              </a:ext>
            </a:extLst>
          </a:blip>
          <a:srcRect r="12382"/>
          <a:stretch/>
        </p:blipFill>
        <p:spPr>
          <a:xfrm>
            <a:off x="5219294" y="3352800"/>
            <a:ext cx="3204703" cy="2743200"/>
          </a:xfrm>
          <a:prstGeom prst="rect">
            <a:avLst/>
          </a:prstGeom>
        </p:spPr>
      </p:pic>
      <p:sp>
        <p:nvSpPr>
          <p:cNvPr id="67" name="TextBox 66">
            <a:extLst>
              <a:ext uri="{FF2B5EF4-FFF2-40B4-BE49-F238E27FC236}">
                <a16:creationId xmlns:a16="http://schemas.microsoft.com/office/drawing/2014/main" id="{03330668-5D4C-8EF2-B13F-482BEE8C628B}"/>
              </a:ext>
            </a:extLst>
          </p:cNvPr>
          <p:cNvSpPr txBox="1"/>
          <p:nvPr/>
        </p:nvSpPr>
        <p:spPr>
          <a:xfrm>
            <a:off x="6497254" y="2956974"/>
            <a:ext cx="1069524" cy="400110"/>
          </a:xfrm>
          <a:prstGeom prst="rect">
            <a:avLst/>
          </a:prstGeom>
          <a:noFill/>
        </p:spPr>
        <p:txBody>
          <a:bodyPr wrap="none" rtlCol="0">
            <a:spAutoFit/>
          </a:bodyPr>
          <a:lstStyle/>
          <a:p>
            <a:r>
              <a:rPr lang="en-US" sz="2000">
                <a:latin typeface="Arial" pitchFamily="34" charset="0"/>
                <a:cs typeface="Arial" pitchFamily="34" charset="0"/>
              </a:rPr>
              <a:t>E-plane</a:t>
            </a:r>
          </a:p>
        </p:txBody>
      </p:sp>
      <p:sp>
        <p:nvSpPr>
          <p:cNvPr id="70" name="TextBox 69">
            <a:extLst>
              <a:ext uri="{FF2B5EF4-FFF2-40B4-BE49-F238E27FC236}">
                <a16:creationId xmlns:a16="http://schemas.microsoft.com/office/drawing/2014/main" id="{DA70E1CD-D68B-1594-352C-9A4CDE1FA767}"/>
              </a:ext>
            </a:extLst>
          </p:cNvPr>
          <p:cNvSpPr txBox="1"/>
          <p:nvPr/>
        </p:nvSpPr>
        <p:spPr>
          <a:xfrm>
            <a:off x="9843607" y="2952690"/>
            <a:ext cx="1083951" cy="400110"/>
          </a:xfrm>
          <a:prstGeom prst="rect">
            <a:avLst/>
          </a:prstGeom>
          <a:noFill/>
        </p:spPr>
        <p:txBody>
          <a:bodyPr wrap="none" rtlCol="0">
            <a:spAutoFit/>
          </a:bodyPr>
          <a:lstStyle/>
          <a:p>
            <a:r>
              <a:rPr lang="en-US" sz="2000">
                <a:latin typeface="Arial" pitchFamily="34" charset="0"/>
                <a:cs typeface="Arial" pitchFamily="34" charset="0"/>
              </a:rPr>
              <a:t>H-plane</a:t>
            </a:r>
          </a:p>
        </p:txBody>
      </p:sp>
      <p:pic>
        <p:nvPicPr>
          <p:cNvPr id="3" name="Picture 2" descr="A table with numbers and letters&#10;&#10;Description automatically generated">
            <a:extLst>
              <a:ext uri="{FF2B5EF4-FFF2-40B4-BE49-F238E27FC236}">
                <a16:creationId xmlns:a16="http://schemas.microsoft.com/office/drawing/2014/main" id="{BCA072C6-C027-8726-358F-2F9158F2C29F}"/>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489287" y="1193091"/>
            <a:ext cx="3289874" cy="1791870"/>
          </a:xfrm>
          <a:prstGeom prst="rect">
            <a:avLst/>
          </a:prstGeom>
        </p:spPr>
      </p:pic>
      <p:pic>
        <p:nvPicPr>
          <p:cNvPr id="4" name="Picture 3" descr="A white paper with black text&#10;&#10;Description automatically generated">
            <a:extLst>
              <a:ext uri="{FF2B5EF4-FFF2-40B4-BE49-F238E27FC236}">
                <a16:creationId xmlns:a16="http://schemas.microsoft.com/office/drawing/2014/main" id="{C84448EC-55BB-165F-6F1B-BC9B78BCBFAF}"/>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489287" y="3061161"/>
            <a:ext cx="6389578" cy="1949576"/>
          </a:xfrm>
          <a:prstGeom prst="rect">
            <a:avLst/>
          </a:prstGeom>
          <a:ln w="28575">
            <a:solidFill>
              <a:schemeClr val="tx1"/>
            </a:solidFill>
          </a:ln>
        </p:spPr>
      </p:pic>
    </p:spTree>
    <p:extLst>
      <p:ext uri="{BB962C8B-B14F-4D97-AF65-F5344CB8AC3E}">
        <p14:creationId xmlns:p14="http://schemas.microsoft.com/office/powerpoint/2010/main" val="8902026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33BF3F1-772B-A92E-615C-FB7261D595D5}"/>
              </a:ext>
            </a:extLst>
          </p:cNvPr>
          <p:cNvSpPr>
            <a:spLocks noGrp="1"/>
          </p:cNvSpPr>
          <p:nvPr>
            <p:ph type="title"/>
          </p:nvPr>
        </p:nvSpPr>
        <p:spPr/>
        <p:txBody>
          <a:bodyPr/>
          <a:lstStyle/>
          <a:p>
            <a:r>
              <a:rPr lang="en-US" dirty="0"/>
              <a:t>Optimization Exercise </a:t>
            </a:r>
          </a:p>
        </p:txBody>
      </p:sp>
    </p:spTree>
    <p:extLst>
      <p:ext uri="{BB962C8B-B14F-4D97-AF65-F5344CB8AC3E}">
        <p14:creationId xmlns:p14="http://schemas.microsoft.com/office/powerpoint/2010/main" val="16011218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8A6415-B72E-CABF-FF36-DA0FDA7E34F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597FC9-BB6A-2355-43A7-4B6731905832}"/>
              </a:ext>
            </a:extLst>
          </p:cNvPr>
          <p:cNvSpPr>
            <a:spLocks noGrp="1"/>
          </p:cNvSpPr>
          <p:nvPr>
            <p:ph type="title"/>
          </p:nvPr>
        </p:nvSpPr>
        <p:spPr/>
        <p:txBody>
          <a:bodyPr/>
          <a:lstStyle/>
          <a:p>
            <a:r>
              <a:rPr lang="en-US"/>
              <a:t>Antenna Workflow #3: Optimization with (better) AI</a:t>
            </a:r>
          </a:p>
        </p:txBody>
      </p:sp>
      <p:grpSp>
        <p:nvGrpSpPr>
          <p:cNvPr id="51" name="Group 50">
            <a:extLst>
              <a:ext uri="{FF2B5EF4-FFF2-40B4-BE49-F238E27FC236}">
                <a16:creationId xmlns:a16="http://schemas.microsoft.com/office/drawing/2014/main" id="{BFBB2589-1F36-FCDA-6524-DA85314C446C}"/>
              </a:ext>
            </a:extLst>
          </p:cNvPr>
          <p:cNvGrpSpPr/>
          <p:nvPr/>
        </p:nvGrpSpPr>
        <p:grpSpPr>
          <a:xfrm>
            <a:off x="3246378" y="1625892"/>
            <a:ext cx="6795758" cy="3846780"/>
            <a:chOff x="1022234" y="2043769"/>
            <a:chExt cx="6795758" cy="3846780"/>
          </a:xfrm>
        </p:grpSpPr>
        <p:sp>
          <p:nvSpPr>
            <p:cNvPr id="7" name="Octagon 6">
              <a:extLst>
                <a:ext uri="{FF2B5EF4-FFF2-40B4-BE49-F238E27FC236}">
                  <a16:creationId xmlns:a16="http://schemas.microsoft.com/office/drawing/2014/main" id="{FBDE790B-6F98-1E40-ACA6-27BC751FE117}"/>
                </a:ext>
              </a:extLst>
            </p:cNvPr>
            <p:cNvSpPr>
              <a:spLocks/>
            </p:cNvSpPr>
            <p:nvPr/>
          </p:nvSpPr>
          <p:spPr>
            <a:xfrm>
              <a:off x="3641758" y="2872906"/>
              <a:ext cx="2194560" cy="2194560"/>
            </a:xfrm>
            <a:prstGeom prst="oct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ctr"/>
              <a:r>
                <a:rPr lang="en-US" sz="2400">
                  <a:latin typeface="Arial" pitchFamily="34" charset="0"/>
                  <a:cs typeface="Arial" pitchFamily="34" charset="0"/>
                </a:rPr>
                <a:t>Antenna Design</a:t>
              </a:r>
            </a:p>
          </p:txBody>
        </p:sp>
        <p:sp>
          <p:nvSpPr>
            <p:cNvPr id="8" name="Hexagon 7">
              <a:extLst>
                <a:ext uri="{FF2B5EF4-FFF2-40B4-BE49-F238E27FC236}">
                  <a16:creationId xmlns:a16="http://schemas.microsoft.com/office/drawing/2014/main" id="{2E54C267-CAFE-B762-9339-9CE8F16A187A}"/>
                </a:ext>
              </a:extLst>
            </p:cNvPr>
            <p:cNvSpPr>
              <a:spLocks/>
            </p:cNvSpPr>
            <p:nvPr/>
          </p:nvSpPr>
          <p:spPr>
            <a:xfrm>
              <a:off x="1022234" y="2066926"/>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itchFamily="34" charset="0"/>
                  <a:cs typeface="Arial" pitchFamily="34" charset="0"/>
                </a:rPr>
                <a:t>Import</a:t>
              </a:r>
            </a:p>
          </p:txBody>
        </p:sp>
        <p:sp>
          <p:nvSpPr>
            <p:cNvPr id="10" name="Hexagon 9">
              <a:extLst>
                <a:ext uri="{FF2B5EF4-FFF2-40B4-BE49-F238E27FC236}">
                  <a16:creationId xmlns:a16="http://schemas.microsoft.com/office/drawing/2014/main" id="{7A90C5DF-6F18-0FB0-7CAA-5F9282F73999}"/>
                </a:ext>
              </a:extLst>
            </p:cNvPr>
            <p:cNvSpPr>
              <a:spLocks/>
            </p:cNvSpPr>
            <p:nvPr/>
          </p:nvSpPr>
          <p:spPr>
            <a:xfrm>
              <a:off x="1022234" y="3404527"/>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atin typeface="Arial" pitchFamily="34" charset="0"/>
                  <a:cs typeface="Arial" pitchFamily="34" charset="0"/>
                </a:rPr>
                <a:t>EM</a:t>
              </a:r>
            </a:p>
          </p:txBody>
        </p:sp>
        <p:sp>
          <p:nvSpPr>
            <p:cNvPr id="11" name="Hexagon 10">
              <a:extLst>
                <a:ext uri="{FF2B5EF4-FFF2-40B4-BE49-F238E27FC236}">
                  <a16:creationId xmlns:a16="http://schemas.microsoft.com/office/drawing/2014/main" id="{09863945-153F-206D-81DB-4F9615A9E556}"/>
                </a:ext>
              </a:extLst>
            </p:cNvPr>
            <p:cNvSpPr>
              <a:spLocks/>
            </p:cNvSpPr>
            <p:nvPr/>
          </p:nvSpPr>
          <p:spPr>
            <a:xfrm>
              <a:off x="6537832" y="2043769"/>
              <a:ext cx="1280160" cy="1097280"/>
            </a:xfrm>
            <a:prstGeom prst="hexagon">
              <a:avLst>
                <a:gd name="adj" fmla="val 20280"/>
                <a:gd name="vf" fmla="val 11547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Post</a:t>
              </a:r>
            </a:p>
            <a:p>
              <a:pPr algn="ctr"/>
              <a:r>
                <a:rPr lang="en-US">
                  <a:latin typeface="Arial" pitchFamily="34" charset="0"/>
                  <a:cs typeface="Arial" pitchFamily="34" charset="0"/>
                </a:rPr>
                <a:t>process</a:t>
              </a:r>
            </a:p>
          </p:txBody>
        </p:sp>
        <p:sp>
          <p:nvSpPr>
            <p:cNvPr id="15" name="Hexagon 14">
              <a:extLst>
                <a:ext uri="{FF2B5EF4-FFF2-40B4-BE49-F238E27FC236}">
                  <a16:creationId xmlns:a16="http://schemas.microsoft.com/office/drawing/2014/main" id="{CF80062D-9C2F-2748-FC6D-10775B254181}"/>
                </a:ext>
              </a:extLst>
            </p:cNvPr>
            <p:cNvSpPr>
              <a:spLocks/>
            </p:cNvSpPr>
            <p:nvPr/>
          </p:nvSpPr>
          <p:spPr>
            <a:xfrm>
              <a:off x="6537832" y="3418519"/>
              <a:ext cx="1280160" cy="1097280"/>
            </a:xfrm>
            <a:prstGeom prst="hexag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Integrate</a:t>
              </a:r>
            </a:p>
          </p:txBody>
        </p:sp>
        <p:cxnSp>
          <p:nvCxnSpPr>
            <p:cNvPr id="17" name="Straight Arrow Connector 16">
              <a:extLst>
                <a:ext uri="{FF2B5EF4-FFF2-40B4-BE49-F238E27FC236}">
                  <a16:creationId xmlns:a16="http://schemas.microsoft.com/office/drawing/2014/main" id="{A6F1E592-4D4D-6370-3FA3-81BFFD9579E0}"/>
                </a:ext>
              </a:extLst>
            </p:cNvPr>
            <p:cNvCxnSpPr>
              <a:cxnSpLocks/>
            </p:cNvCxnSpPr>
            <p:nvPr/>
          </p:nvCxnSpPr>
          <p:spPr>
            <a:xfrm>
              <a:off x="2286329" y="2605039"/>
              <a:ext cx="1280160" cy="100584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23" name="Straight Arrow Connector 22">
              <a:extLst>
                <a:ext uri="{FF2B5EF4-FFF2-40B4-BE49-F238E27FC236}">
                  <a16:creationId xmlns:a16="http://schemas.microsoft.com/office/drawing/2014/main" id="{9036DA9E-B6F4-ACD0-3F70-28A3B78B6AA9}"/>
                </a:ext>
              </a:extLst>
            </p:cNvPr>
            <p:cNvCxnSpPr>
              <a:cxnSpLocks/>
            </p:cNvCxnSpPr>
            <p:nvPr/>
          </p:nvCxnSpPr>
          <p:spPr>
            <a:xfrm>
              <a:off x="2279342" y="3953167"/>
              <a:ext cx="1280160" cy="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26" name="Straight Arrow Connector 25">
              <a:extLst>
                <a:ext uri="{FF2B5EF4-FFF2-40B4-BE49-F238E27FC236}">
                  <a16:creationId xmlns:a16="http://schemas.microsoft.com/office/drawing/2014/main" id="{339D1B3C-FB34-9470-CF12-6880A8C4B4B1}"/>
                </a:ext>
              </a:extLst>
            </p:cNvPr>
            <p:cNvCxnSpPr>
              <a:cxnSpLocks/>
            </p:cNvCxnSpPr>
            <p:nvPr/>
          </p:nvCxnSpPr>
          <p:spPr>
            <a:xfrm flipV="1">
              <a:off x="5475168" y="2885374"/>
              <a:ext cx="1188720" cy="27432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cxnSp>
          <p:nvCxnSpPr>
            <p:cNvPr id="33" name="Straight Arrow Connector 32">
              <a:extLst>
                <a:ext uri="{FF2B5EF4-FFF2-40B4-BE49-F238E27FC236}">
                  <a16:creationId xmlns:a16="http://schemas.microsoft.com/office/drawing/2014/main" id="{83F008C8-4FEF-0704-A023-AA360B9081D0}"/>
                </a:ext>
              </a:extLst>
            </p:cNvPr>
            <p:cNvCxnSpPr>
              <a:cxnSpLocks/>
            </p:cNvCxnSpPr>
            <p:nvPr/>
          </p:nvCxnSpPr>
          <p:spPr>
            <a:xfrm>
              <a:off x="5836318" y="3955068"/>
              <a:ext cx="640080" cy="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sp>
          <p:nvSpPr>
            <p:cNvPr id="48" name="Hexagon 47">
              <a:extLst>
                <a:ext uri="{FF2B5EF4-FFF2-40B4-BE49-F238E27FC236}">
                  <a16:creationId xmlns:a16="http://schemas.microsoft.com/office/drawing/2014/main" id="{564C4B30-40B6-2A60-A82A-42476DC66B68}"/>
                </a:ext>
              </a:extLst>
            </p:cNvPr>
            <p:cNvSpPr>
              <a:spLocks/>
            </p:cNvSpPr>
            <p:nvPr/>
          </p:nvSpPr>
          <p:spPr>
            <a:xfrm>
              <a:off x="6537832" y="4793269"/>
              <a:ext cx="1280160" cy="1097280"/>
            </a:xfrm>
            <a:prstGeom prst="hexagon">
              <a:avLst>
                <a:gd name="adj" fmla="val 20280"/>
                <a:gd name="vf" fmla="val 11547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noAutofit/>
            </a:bodyPr>
            <a:lstStyle/>
            <a:p>
              <a:pPr algn="ctr"/>
              <a:r>
                <a:rPr lang="en-US">
                  <a:latin typeface="Arial" pitchFamily="34" charset="0"/>
                  <a:cs typeface="Arial" pitchFamily="34" charset="0"/>
                </a:rPr>
                <a:t>Export</a:t>
              </a:r>
            </a:p>
          </p:txBody>
        </p:sp>
        <p:cxnSp>
          <p:nvCxnSpPr>
            <p:cNvPr id="28" name="Straight Arrow Connector 27">
              <a:extLst>
                <a:ext uri="{FF2B5EF4-FFF2-40B4-BE49-F238E27FC236}">
                  <a16:creationId xmlns:a16="http://schemas.microsoft.com/office/drawing/2014/main" id="{2D4BB961-3BE9-63DE-861B-9569C33F8E50}"/>
                </a:ext>
              </a:extLst>
            </p:cNvPr>
            <p:cNvCxnSpPr>
              <a:cxnSpLocks/>
            </p:cNvCxnSpPr>
            <p:nvPr/>
          </p:nvCxnSpPr>
          <p:spPr>
            <a:xfrm>
              <a:off x="5498309" y="4731797"/>
              <a:ext cx="1188720" cy="274320"/>
            </a:xfrm>
            <a:prstGeom prst="straightConnector1">
              <a:avLst/>
            </a:prstGeom>
            <a:ln>
              <a:solidFill>
                <a:schemeClr val="tx2"/>
              </a:solidFill>
              <a:tailEnd type="triangle"/>
            </a:ln>
          </p:spPr>
          <p:style>
            <a:lnRef idx="3">
              <a:schemeClr val="accent5"/>
            </a:lnRef>
            <a:fillRef idx="0">
              <a:schemeClr val="accent5"/>
            </a:fillRef>
            <a:effectRef idx="2">
              <a:schemeClr val="accent5"/>
            </a:effectRef>
            <a:fontRef idx="minor">
              <a:schemeClr val="tx1"/>
            </a:fontRef>
          </p:style>
        </p:cxnSp>
      </p:grpSp>
      <p:pic>
        <p:nvPicPr>
          <p:cNvPr id="9" name="Picture 8">
            <a:extLst>
              <a:ext uri="{FF2B5EF4-FFF2-40B4-BE49-F238E27FC236}">
                <a16:creationId xmlns:a16="http://schemas.microsoft.com/office/drawing/2014/main" id="{F97D2652-076F-30F2-121A-9E0EEB2FDC19}"/>
              </a:ext>
            </a:extLst>
          </p:cNvPr>
          <p:cNvPicPr>
            <a:picLocks noChangeAspect="1"/>
          </p:cNvPicPr>
          <p:nvPr/>
        </p:nvPicPr>
        <p:blipFill>
          <a:blip r:embed="rId3"/>
          <a:srcRect r="75560"/>
          <a:stretch/>
        </p:blipFill>
        <p:spPr>
          <a:xfrm>
            <a:off x="6545405" y="3975406"/>
            <a:ext cx="698955" cy="612834"/>
          </a:xfrm>
          <a:prstGeom prst="rect">
            <a:avLst/>
          </a:prstGeom>
        </p:spPr>
      </p:pic>
      <p:sp>
        <p:nvSpPr>
          <p:cNvPr id="3" name="Hexagon 2">
            <a:extLst>
              <a:ext uri="{FF2B5EF4-FFF2-40B4-BE49-F238E27FC236}">
                <a16:creationId xmlns:a16="http://schemas.microsoft.com/office/drawing/2014/main" id="{5F0A42D4-124F-8A5E-CFD2-56C06FA3089B}"/>
              </a:ext>
            </a:extLst>
          </p:cNvPr>
          <p:cNvSpPr>
            <a:spLocks/>
          </p:cNvSpPr>
          <p:nvPr/>
        </p:nvSpPr>
        <p:spPr>
          <a:xfrm>
            <a:off x="3230313" y="4324251"/>
            <a:ext cx="1280160" cy="1097280"/>
          </a:xfrm>
          <a:prstGeom prst="hexagon">
            <a:avLst/>
          </a:prstGeom>
          <a:solidFill>
            <a:schemeClr val="tx2"/>
          </a:solidFill>
          <a:ln w="3810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err="1">
                <a:latin typeface="Arial" pitchFamily="34" charset="0"/>
                <a:cs typeface="Arial" pitchFamily="34" charset="0"/>
              </a:rPr>
              <a:t>Optim</a:t>
            </a:r>
            <a:r>
              <a:rPr lang="en-US">
                <a:latin typeface="Arial" pitchFamily="34" charset="0"/>
                <a:cs typeface="Arial" pitchFamily="34" charset="0"/>
              </a:rPr>
              <a:t>.</a:t>
            </a:r>
          </a:p>
        </p:txBody>
      </p:sp>
      <p:cxnSp>
        <p:nvCxnSpPr>
          <p:cNvPr id="4" name="Straight Arrow Connector 3">
            <a:extLst>
              <a:ext uri="{FF2B5EF4-FFF2-40B4-BE49-F238E27FC236}">
                <a16:creationId xmlns:a16="http://schemas.microsoft.com/office/drawing/2014/main" id="{061E47C7-4474-2E83-4321-126D895F5F82}"/>
              </a:ext>
            </a:extLst>
          </p:cNvPr>
          <p:cNvCxnSpPr>
            <a:cxnSpLocks/>
          </p:cNvCxnSpPr>
          <p:nvPr/>
        </p:nvCxnSpPr>
        <p:spPr>
          <a:xfrm flipV="1">
            <a:off x="4498947" y="3872472"/>
            <a:ext cx="1280160" cy="1005840"/>
          </a:xfrm>
          <a:prstGeom prst="straightConnector1">
            <a:avLst/>
          </a:prstGeom>
          <a:ln w="76200">
            <a:solidFill>
              <a:schemeClr val="accent1"/>
            </a:solidFill>
            <a:tailEnd type="triangle"/>
          </a:ln>
        </p:spPr>
        <p:style>
          <a:lnRef idx="3">
            <a:schemeClr val="accent5"/>
          </a:lnRef>
          <a:fillRef idx="0">
            <a:schemeClr val="accent5"/>
          </a:fillRef>
          <a:effectRef idx="2">
            <a:schemeClr val="accent5"/>
          </a:effectRef>
          <a:fontRef idx="minor">
            <a:schemeClr val="tx1"/>
          </a:fontRef>
        </p:style>
      </p:cxnSp>
      <p:sp>
        <p:nvSpPr>
          <p:cNvPr id="5" name="Rectangle 4">
            <a:extLst>
              <a:ext uri="{FF2B5EF4-FFF2-40B4-BE49-F238E27FC236}">
                <a16:creationId xmlns:a16="http://schemas.microsoft.com/office/drawing/2014/main" id="{9F6089CB-3E7D-253C-9620-94EA9AD89161}"/>
              </a:ext>
            </a:extLst>
          </p:cNvPr>
          <p:cNvSpPr/>
          <p:nvPr/>
        </p:nvSpPr>
        <p:spPr>
          <a:xfrm rot="19356832">
            <a:off x="4863763" y="4300773"/>
            <a:ext cx="877163" cy="923330"/>
          </a:xfrm>
          <a:prstGeom prst="rect">
            <a:avLst/>
          </a:prstGeom>
          <a:noFill/>
        </p:spPr>
        <p:txBody>
          <a:bodyPr wrap="none" lIns="91440" tIns="45720" rIns="91440" bIns="45720">
            <a:spAutoFit/>
          </a:bodyPr>
          <a:lstStyle/>
          <a:p>
            <a:pPr algn="ctr"/>
            <a:r>
              <a:rPr lang="en-US" sz="5400" b="1" cap="none" spc="0">
                <a:ln w="12700">
                  <a:solidFill>
                    <a:schemeClr val="accent1"/>
                  </a:solidFill>
                  <a:prstDash val="solid"/>
                </a:ln>
                <a:pattFill prst="pct50">
                  <a:fgClr>
                    <a:schemeClr val="accent1"/>
                  </a:fgClr>
                  <a:bgClr>
                    <a:schemeClr val="accent1">
                      <a:lumMod val="20000"/>
                      <a:lumOff val="80000"/>
                    </a:schemeClr>
                  </a:bgClr>
                </a:pattFill>
                <a:effectLst>
                  <a:outerShdw dist="38100" dir="2640000" algn="bl" rotWithShape="0">
                    <a:schemeClr val="accent1"/>
                  </a:outerShdw>
                </a:effectLst>
              </a:rPr>
              <a:t>AI</a:t>
            </a:r>
          </a:p>
        </p:txBody>
      </p:sp>
      <p:sp>
        <p:nvSpPr>
          <p:cNvPr id="6" name="Content Placeholder 2">
            <a:extLst>
              <a:ext uri="{FF2B5EF4-FFF2-40B4-BE49-F238E27FC236}">
                <a16:creationId xmlns:a16="http://schemas.microsoft.com/office/drawing/2014/main" id="{7AC831A4-9546-D5C4-7EB4-558B0CBC77CD}"/>
              </a:ext>
            </a:extLst>
          </p:cNvPr>
          <p:cNvSpPr>
            <a:spLocks noGrp="1"/>
          </p:cNvSpPr>
          <p:nvPr>
            <p:ph idx="1"/>
          </p:nvPr>
        </p:nvSpPr>
        <p:spPr>
          <a:xfrm>
            <a:off x="609602" y="5294168"/>
            <a:ext cx="10769600" cy="954232"/>
          </a:xfrm>
        </p:spPr>
        <p:txBody>
          <a:bodyPr/>
          <a:lstStyle/>
          <a:p>
            <a:endParaRPr lang="en-US" sz="2000" dirty="0"/>
          </a:p>
          <a:p>
            <a:r>
              <a:rPr lang="en-US" sz="2000" dirty="0"/>
              <a:t>Do you design antennas with a large number of design variables?</a:t>
            </a:r>
          </a:p>
          <a:p>
            <a:r>
              <a:rPr lang="en-US" sz="2000" dirty="0"/>
              <a:t>Do you need to speed up antenna optimization?</a:t>
            </a:r>
          </a:p>
          <a:p>
            <a:r>
              <a:rPr lang="en-US" sz="2000" dirty="0"/>
              <a:t>Do you use 3</a:t>
            </a:r>
            <a:r>
              <a:rPr lang="en-US" sz="2000" baseline="30000" dirty="0"/>
              <a:t>rd</a:t>
            </a:r>
            <a:r>
              <a:rPr lang="en-US" sz="2000" dirty="0"/>
              <a:t> party EM tool and would like to use MATLAB for optimization?</a:t>
            </a:r>
            <a:endParaRPr lang="LID4096" sz="2000" dirty="0"/>
          </a:p>
        </p:txBody>
      </p:sp>
    </p:spTree>
    <p:extLst>
      <p:ext uri="{BB962C8B-B14F-4D97-AF65-F5344CB8AC3E}">
        <p14:creationId xmlns:p14="http://schemas.microsoft.com/office/powerpoint/2010/main" val="9439648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64162-839F-0350-203C-AE5062C47881}"/>
              </a:ext>
            </a:extLst>
          </p:cNvPr>
          <p:cNvSpPr>
            <a:spLocks noGrp="1"/>
          </p:cNvSpPr>
          <p:nvPr>
            <p:ph type="title"/>
          </p:nvPr>
        </p:nvSpPr>
        <p:spPr>
          <a:xfrm>
            <a:off x="609602" y="457200"/>
            <a:ext cx="10769600" cy="990600"/>
          </a:xfrm>
        </p:spPr>
        <p:txBody>
          <a:bodyPr anchor="t">
            <a:normAutofit/>
          </a:bodyPr>
          <a:lstStyle/>
          <a:p>
            <a:r>
              <a:rPr lang="en-US" dirty="0">
                <a:latin typeface="Arial"/>
                <a:cs typeface="Arial"/>
              </a:rPr>
              <a:t>AI for Surrogate Based Optimization</a:t>
            </a:r>
            <a:br>
              <a:rPr lang="en-US" dirty="0">
                <a:latin typeface="Arial"/>
                <a:cs typeface="Arial"/>
              </a:rPr>
            </a:br>
            <a:endParaRPr lang="en-US" dirty="0">
              <a:latin typeface="Arial"/>
              <a:cs typeface="Arial"/>
            </a:endParaRPr>
          </a:p>
        </p:txBody>
      </p:sp>
      <p:grpSp>
        <p:nvGrpSpPr>
          <p:cNvPr id="10" name="Group 9">
            <a:extLst>
              <a:ext uri="{FF2B5EF4-FFF2-40B4-BE49-F238E27FC236}">
                <a16:creationId xmlns:a16="http://schemas.microsoft.com/office/drawing/2014/main" id="{51A81C12-5619-4CB2-9284-69B3A8D0ADE5}"/>
              </a:ext>
            </a:extLst>
          </p:cNvPr>
          <p:cNvGrpSpPr/>
          <p:nvPr/>
        </p:nvGrpSpPr>
        <p:grpSpPr>
          <a:xfrm>
            <a:off x="8620626" y="1479280"/>
            <a:ext cx="3336061" cy="2593346"/>
            <a:chOff x="5878261" y="1375855"/>
            <a:chExt cx="3336061" cy="2593346"/>
          </a:xfrm>
        </p:grpSpPr>
        <p:pic>
          <p:nvPicPr>
            <p:cNvPr id="18" name="Picture 17">
              <a:extLst>
                <a:ext uri="{FF2B5EF4-FFF2-40B4-BE49-F238E27FC236}">
                  <a16:creationId xmlns:a16="http://schemas.microsoft.com/office/drawing/2014/main" id="{CE80BE50-EDD5-45B2-B350-4F5B31264928}"/>
                </a:ext>
              </a:extLst>
            </p:cNvPr>
            <p:cNvPicPr>
              <a:picLocks noChangeAspect="1"/>
            </p:cNvPicPr>
            <p:nvPr/>
          </p:nvPicPr>
          <p:blipFill>
            <a:blip r:embed="rId3"/>
            <a:stretch>
              <a:fillRect/>
            </a:stretch>
          </p:blipFill>
          <p:spPr>
            <a:xfrm>
              <a:off x="5878261" y="1375855"/>
              <a:ext cx="3336061" cy="2593346"/>
            </a:xfrm>
            <a:prstGeom prst="rect">
              <a:avLst/>
            </a:prstGeom>
          </p:spPr>
        </p:pic>
        <p:sp>
          <p:nvSpPr>
            <p:cNvPr id="19" name="Oval 18">
              <a:extLst>
                <a:ext uri="{FF2B5EF4-FFF2-40B4-BE49-F238E27FC236}">
                  <a16:creationId xmlns:a16="http://schemas.microsoft.com/office/drawing/2014/main" id="{A4FC1F9D-CEAE-4CC8-9E2F-CC4009500BD2}"/>
                </a:ext>
              </a:extLst>
            </p:cNvPr>
            <p:cNvSpPr/>
            <p:nvPr/>
          </p:nvSpPr>
          <p:spPr>
            <a:xfrm>
              <a:off x="6797527" y="1822785"/>
              <a:ext cx="542153" cy="63716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4" name="Oval 23">
              <a:extLst>
                <a:ext uri="{FF2B5EF4-FFF2-40B4-BE49-F238E27FC236}">
                  <a16:creationId xmlns:a16="http://schemas.microsoft.com/office/drawing/2014/main" id="{1F5CB13B-7051-4F8B-A886-DD9B32693CCC}"/>
                </a:ext>
              </a:extLst>
            </p:cNvPr>
            <p:cNvSpPr/>
            <p:nvPr/>
          </p:nvSpPr>
          <p:spPr>
            <a:xfrm rot="2112956">
              <a:off x="7548714" y="2096172"/>
              <a:ext cx="584325" cy="718557"/>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5" name="Oval 24">
              <a:extLst>
                <a:ext uri="{FF2B5EF4-FFF2-40B4-BE49-F238E27FC236}">
                  <a16:creationId xmlns:a16="http://schemas.microsoft.com/office/drawing/2014/main" id="{CC549D02-7511-431E-8C33-FEF19E5F351B}"/>
                </a:ext>
              </a:extLst>
            </p:cNvPr>
            <p:cNvSpPr/>
            <p:nvPr/>
          </p:nvSpPr>
          <p:spPr>
            <a:xfrm rot="2112956">
              <a:off x="6948523" y="2922731"/>
              <a:ext cx="422794" cy="481470"/>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grpSp>
        <p:nvGrpSpPr>
          <p:cNvPr id="26" name="Group 25">
            <a:extLst>
              <a:ext uri="{FF2B5EF4-FFF2-40B4-BE49-F238E27FC236}">
                <a16:creationId xmlns:a16="http://schemas.microsoft.com/office/drawing/2014/main" id="{E10F1CD7-AA1A-4BD2-B9DD-4345F1A8B288}"/>
              </a:ext>
            </a:extLst>
          </p:cNvPr>
          <p:cNvGrpSpPr/>
          <p:nvPr/>
        </p:nvGrpSpPr>
        <p:grpSpPr>
          <a:xfrm>
            <a:off x="5761970" y="1479280"/>
            <a:ext cx="3336061" cy="2593346"/>
            <a:chOff x="-57150" y="1375855"/>
            <a:chExt cx="4830193" cy="3622644"/>
          </a:xfrm>
        </p:grpSpPr>
        <p:pic>
          <p:nvPicPr>
            <p:cNvPr id="27" name="Picture 26">
              <a:extLst>
                <a:ext uri="{FF2B5EF4-FFF2-40B4-BE49-F238E27FC236}">
                  <a16:creationId xmlns:a16="http://schemas.microsoft.com/office/drawing/2014/main" id="{A5C9D0D9-3F7A-4001-ABAF-6F93CE6B62AC}"/>
                </a:ext>
              </a:extLst>
            </p:cNvPr>
            <p:cNvPicPr>
              <a:picLocks noChangeAspect="1"/>
            </p:cNvPicPr>
            <p:nvPr/>
          </p:nvPicPr>
          <p:blipFill>
            <a:blip r:embed="rId3"/>
            <a:stretch>
              <a:fillRect/>
            </a:stretch>
          </p:blipFill>
          <p:spPr>
            <a:xfrm>
              <a:off x="-57150" y="1375855"/>
              <a:ext cx="4830193" cy="3622644"/>
            </a:xfrm>
            <a:prstGeom prst="rect">
              <a:avLst/>
            </a:prstGeom>
          </p:spPr>
        </p:pic>
        <p:sp>
          <p:nvSpPr>
            <p:cNvPr id="28" name="Oval 27">
              <a:extLst>
                <a:ext uri="{FF2B5EF4-FFF2-40B4-BE49-F238E27FC236}">
                  <a16:creationId xmlns:a16="http://schemas.microsoft.com/office/drawing/2014/main" id="{ABB2C362-8DBB-4FEF-ABA8-C7436C99F823}"/>
                </a:ext>
              </a:extLst>
            </p:cNvPr>
            <p:cNvSpPr/>
            <p:nvPr/>
          </p:nvSpPr>
          <p:spPr>
            <a:xfrm>
              <a:off x="1434298" y="2184278"/>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9" name="Oval 28">
              <a:extLst>
                <a:ext uri="{FF2B5EF4-FFF2-40B4-BE49-F238E27FC236}">
                  <a16:creationId xmlns:a16="http://schemas.microsoft.com/office/drawing/2014/main" id="{6A2C6C20-6E3F-4690-B83E-6A2026AE7578}"/>
                </a:ext>
              </a:extLst>
            </p:cNvPr>
            <p:cNvSpPr/>
            <p:nvPr/>
          </p:nvSpPr>
          <p:spPr>
            <a:xfrm>
              <a:off x="1606538" y="2382675"/>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0" name="Oval 29">
              <a:extLst>
                <a:ext uri="{FF2B5EF4-FFF2-40B4-BE49-F238E27FC236}">
                  <a16:creationId xmlns:a16="http://schemas.microsoft.com/office/drawing/2014/main" id="{3272EB71-EA81-4640-B603-D3315D60536A}"/>
                </a:ext>
              </a:extLst>
            </p:cNvPr>
            <p:cNvSpPr/>
            <p:nvPr/>
          </p:nvSpPr>
          <p:spPr>
            <a:xfrm>
              <a:off x="1705761" y="2305721"/>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1" name="Oval 30">
              <a:extLst>
                <a:ext uri="{FF2B5EF4-FFF2-40B4-BE49-F238E27FC236}">
                  <a16:creationId xmlns:a16="http://schemas.microsoft.com/office/drawing/2014/main" id="{3A478AD8-8813-4B4C-A2D1-B4A3EF3AE759}"/>
                </a:ext>
              </a:extLst>
            </p:cNvPr>
            <p:cNvSpPr/>
            <p:nvPr/>
          </p:nvSpPr>
          <p:spPr>
            <a:xfrm>
              <a:off x="1620035" y="2496221"/>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2" name="Oval 31">
              <a:extLst>
                <a:ext uri="{FF2B5EF4-FFF2-40B4-BE49-F238E27FC236}">
                  <a16:creationId xmlns:a16="http://schemas.microsoft.com/office/drawing/2014/main" id="{616D8858-2C61-47AE-8833-E55E95A65F55}"/>
                </a:ext>
              </a:extLst>
            </p:cNvPr>
            <p:cNvSpPr/>
            <p:nvPr/>
          </p:nvSpPr>
          <p:spPr>
            <a:xfrm>
              <a:off x="1512880" y="2510512"/>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3" name="Oval 32">
              <a:extLst>
                <a:ext uri="{FF2B5EF4-FFF2-40B4-BE49-F238E27FC236}">
                  <a16:creationId xmlns:a16="http://schemas.microsoft.com/office/drawing/2014/main" id="{CBD14ECD-6A29-4012-9AA0-D9D2C0F2B381}"/>
                </a:ext>
              </a:extLst>
            </p:cNvPr>
            <p:cNvSpPr/>
            <p:nvPr/>
          </p:nvSpPr>
          <p:spPr>
            <a:xfrm>
              <a:off x="2689235" y="2500987"/>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4" name="Oval 33">
              <a:extLst>
                <a:ext uri="{FF2B5EF4-FFF2-40B4-BE49-F238E27FC236}">
                  <a16:creationId xmlns:a16="http://schemas.microsoft.com/office/drawing/2014/main" id="{1B87D49B-8842-49A5-A3F3-546E8B03423C}"/>
                </a:ext>
              </a:extLst>
            </p:cNvPr>
            <p:cNvSpPr/>
            <p:nvPr/>
          </p:nvSpPr>
          <p:spPr>
            <a:xfrm>
              <a:off x="2615398" y="2836741"/>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5" name="Oval 34">
              <a:extLst>
                <a:ext uri="{FF2B5EF4-FFF2-40B4-BE49-F238E27FC236}">
                  <a16:creationId xmlns:a16="http://schemas.microsoft.com/office/drawing/2014/main" id="{96F4A5B6-DE6E-4DFC-BEA5-5F952949464F}"/>
                </a:ext>
              </a:extLst>
            </p:cNvPr>
            <p:cNvSpPr/>
            <p:nvPr/>
          </p:nvSpPr>
          <p:spPr>
            <a:xfrm>
              <a:off x="2765417" y="2932927"/>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6" name="Oval 35">
              <a:extLst>
                <a:ext uri="{FF2B5EF4-FFF2-40B4-BE49-F238E27FC236}">
                  <a16:creationId xmlns:a16="http://schemas.microsoft.com/office/drawing/2014/main" id="{BDA4BAA8-6F57-4943-98C5-98055D236FA8}"/>
                </a:ext>
              </a:extLst>
            </p:cNvPr>
            <p:cNvSpPr/>
            <p:nvPr/>
          </p:nvSpPr>
          <p:spPr>
            <a:xfrm>
              <a:off x="2993397" y="2640535"/>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7" name="Oval 36">
              <a:extLst>
                <a:ext uri="{FF2B5EF4-FFF2-40B4-BE49-F238E27FC236}">
                  <a16:creationId xmlns:a16="http://schemas.microsoft.com/office/drawing/2014/main" id="{1CB0CCA3-4DE3-416E-9326-AB68DC57CE8D}"/>
                </a:ext>
              </a:extLst>
            </p:cNvPr>
            <p:cNvSpPr/>
            <p:nvPr/>
          </p:nvSpPr>
          <p:spPr>
            <a:xfrm>
              <a:off x="2392374" y="2965047"/>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8" name="Oval 37">
              <a:extLst>
                <a:ext uri="{FF2B5EF4-FFF2-40B4-BE49-F238E27FC236}">
                  <a16:creationId xmlns:a16="http://schemas.microsoft.com/office/drawing/2014/main" id="{C0C9E11E-02B9-47F7-96EF-09E7BE2C496C}"/>
                </a:ext>
              </a:extLst>
            </p:cNvPr>
            <p:cNvSpPr/>
            <p:nvPr/>
          </p:nvSpPr>
          <p:spPr>
            <a:xfrm>
              <a:off x="1788988" y="3673194"/>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39" name="Oval 38">
              <a:extLst>
                <a:ext uri="{FF2B5EF4-FFF2-40B4-BE49-F238E27FC236}">
                  <a16:creationId xmlns:a16="http://schemas.microsoft.com/office/drawing/2014/main" id="{D85F9E46-5CDC-480C-9832-B610BDB5181B}"/>
                </a:ext>
              </a:extLst>
            </p:cNvPr>
            <p:cNvSpPr/>
            <p:nvPr/>
          </p:nvSpPr>
          <p:spPr>
            <a:xfrm>
              <a:off x="1789843" y="3797704"/>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0" name="Oval 39">
              <a:extLst>
                <a:ext uri="{FF2B5EF4-FFF2-40B4-BE49-F238E27FC236}">
                  <a16:creationId xmlns:a16="http://schemas.microsoft.com/office/drawing/2014/main" id="{C98BC8B0-EDED-4915-B8B9-61A12AC24292}"/>
                </a:ext>
              </a:extLst>
            </p:cNvPr>
            <p:cNvSpPr/>
            <p:nvPr/>
          </p:nvSpPr>
          <p:spPr>
            <a:xfrm>
              <a:off x="1620035" y="3780202"/>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1" name="Oval 40">
              <a:extLst>
                <a:ext uri="{FF2B5EF4-FFF2-40B4-BE49-F238E27FC236}">
                  <a16:creationId xmlns:a16="http://schemas.microsoft.com/office/drawing/2014/main" id="{42556AFC-A17C-4EF5-809D-540CDEA09D3B}"/>
                </a:ext>
              </a:extLst>
            </p:cNvPr>
            <p:cNvSpPr/>
            <p:nvPr/>
          </p:nvSpPr>
          <p:spPr>
            <a:xfrm>
              <a:off x="1674688" y="3694968"/>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42" name="Oval 41">
              <a:extLst>
                <a:ext uri="{FF2B5EF4-FFF2-40B4-BE49-F238E27FC236}">
                  <a16:creationId xmlns:a16="http://schemas.microsoft.com/office/drawing/2014/main" id="{EE80A952-81A4-46D2-A669-358E6952509B}"/>
                </a:ext>
              </a:extLst>
            </p:cNvPr>
            <p:cNvSpPr/>
            <p:nvPr/>
          </p:nvSpPr>
          <p:spPr>
            <a:xfrm>
              <a:off x="1521498" y="3888241"/>
              <a:ext cx="191974" cy="186432"/>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grpSp>
      <p:sp>
        <p:nvSpPr>
          <p:cNvPr id="45" name="TextBox 18">
            <a:extLst>
              <a:ext uri="{FF2B5EF4-FFF2-40B4-BE49-F238E27FC236}">
                <a16:creationId xmlns:a16="http://schemas.microsoft.com/office/drawing/2014/main" id="{9A87AC05-6B69-407A-9E31-37EE9C093893}"/>
              </a:ext>
            </a:extLst>
          </p:cNvPr>
          <p:cNvSpPr txBox="1"/>
          <p:nvPr/>
        </p:nvSpPr>
        <p:spPr>
          <a:xfrm>
            <a:off x="6188253" y="3920890"/>
            <a:ext cx="2785811" cy="1077218"/>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t>Individual modelling</a:t>
            </a:r>
            <a:endParaRPr lang="en-US" sz="1600">
              <a:cs typeface="Arial"/>
            </a:endParaRPr>
          </a:p>
          <a:p>
            <a:pPr marL="285750" indent="-285750">
              <a:buFont typeface="Arial" panose="020B0604020202020204" pitchFamily="34" charset="0"/>
              <a:buChar char="•"/>
            </a:pPr>
            <a:r>
              <a:rPr lang="en-US" sz="1600">
                <a:cs typeface="Calibri" panose="020F0502020204030204"/>
              </a:rPr>
              <a:t>Very accurate prediction </a:t>
            </a:r>
            <a:endParaRPr lang="en-US" sz="1600">
              <a:cs typeface="Arial"/>
            </a:endParaRPr>
          </a:p>
          <a:p>
            <a:pPr marL="285750" indent="-285750">
              <a:buFont typeface="Arial" panose="020B0604020202020204" pitchFamily="34" charset="0"/>
              <a:buChar char="•"/>
            </a:pPr>
            <a:r>
              <a:rPr lang="en-US" sz="1600">
                <a:solidFill>
                  <a:srgbClr val="FF0000"/>
                </a:solidFill>
              </a:rPr>
              <a:t>Too many models hence time-consuming</a:t>
            </a:r>
            <a:endParaRPr lang="en-US" sz="1600">
              <a:solidFill>
                <a:srgbClr val="000000"/>
              </a:solidFill>
              <a:cs typeface="Arial"/>
            </a:endParaRPr>
          </a:p>
        </p:txBody>
      </p:sp>
      <p:grpSp>
        <p:nvGrpSpPr>
          <p:cNvPr id="4" name="Group 3">
            <a:extLst>
              <a:ext uri="{FF2B5EF4-FFF2-40B4-BE49-F238E27FC236}">
                <a16:creationId xmlns:a16="http://schemas.microsoft.com/office/drawing/2014/main" id="{08A6EFCB-A7BF-4E72-BE3D-1275C8097C36}"/>
              </a:ext>
            </a:extLst>
          </p:cNvPr>
          <p:cNvGrpSpPr/>
          <p:nvPr/>
        </p:nvGrpSpPr>
        <p:grpSpPr>
          <a:xfrm>
            <a:off x="9022261" y="1024822"/>
            <a:ext cx="2577871" cy="646331"/>
            <a:chOff x="262984" y="5602724"/>
            <a:chExt cx="2577871" cy="646331"/>
          </a:xfrm>
        </p:grpSpPr>
        <p:sp>
          <p:nvSpPr>
            <p:cNvPr id="5" name="Oval 4">
              <a:extLst>
                <a:ext uri="{FF2B5EF4-FFF2-40B4-BE49-F238E27FC236}">
                  <a16:creationId xmlns:a16="http://schemas.microsoft.com/office/drawing/2014/main" id="{EDFBD34E-17CC-489B-8DB8-1A0814C50E9C}"/>
                </a:ext>
              </a:extLst>
            </p:cNvPr>
            <p:cNvSpPr/>
            <p:nvPr/>
          </p:nvSpPr>
          <p:spPr>
            <a:xfrm>
              <a:off x="328893" y="5994698"/>
              <a:ext cx="132590" cy="133461"/>
            </a:xfrm>
            <a:prstGeom prst="ellipse">
              <a:avLst/>
            </a:prstGeom>
            <a:noFill/>
            <a:ln w="28575">
              <a:solidFill>
                <a:srgbClr val="FFC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pic>
          <p:nvPicPr>
            <p:cNvPr id="6" name="Picture 5">
              <a:extLst>
                <a:ext uri="{FF2B5EF4-FFF2-40B4-BE49-F238E27FC236}">
                  <a16:creationId xmlns:a16="http://schemas.microsoft.com/office/drawing/2014/main" id="{54E97692-A226-42FA-98D6-A5119E2E138C}"/>
                </a:ext>
              </a:extLst>
            </p:cNvPr>
            <p:cNvPicPr>
              <a:picLocks noChangeAspect="1"/>
            </p:cNvPicPr>
            <p:nvPr/>
          </p:nvPicPr>
          <p:blipFill rotWithShape="1">
            <a:blip r:embed="rId3"/>
            <a:srcRect l="30917" t="21668" r="63838" b="71333"/>
            <a:stretch/>
          </p:blipFill>
          <p:spPr>
            <a:xfrm>
              <a:off x="262984" y="5624860"/>
              <a:ext cx="322362" cy="334433"/>
            </a:xfrm>
            <a:prstGeom prst="rect">
              <a:avLst/>
            </a:prstGeom>
          </p:spPr>
        </p:pic>
        <p:sp>
          <p:nvSpPr>
            <p:cNvPr id="7" name="TextBox 2">
              <a:extLst>
                <a:ext uri="{FF2B5EF4-FFF2-40B4-BE49-F238E27FC236}">
                  <a16:creationId xmlns:a16="http://schemas.microsoft.com/office/drawing/2014/main" id="{26FD89BA-F3C0-4550-B77E-35508999D489}"/>
                </a:ext>
              </a:extLst>
            </p:cNvPr>
            <p:cNvSpPr txBox="1"/>
            <p:nvPr/>
          </p:nvSpPr>
          <p:spPr>
            <a:xfrm>
              <a:off x="474245" y="5602724"/>
              <a:ext cx="2366610" cy="646331"/>
            </a:xfrm>
            <a:prstGeom prst="rect">
              <a:avLst/>
            </a:prstGeom>
            <a:noFill/>
          </p:spPr>
          <p:txBody>
            <a:bodyPr wrap="none" rtlCol="0">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t>Sample to be predicted</a:t>
              </a:r>
            </a:p>
            <a:p>
              <a:r>
                <a:rPr lang="en-US"/>
                <a:t>GP model</a:t>
              </a:r>
            </a:p>
          </p:txBody>
        </p:sp>
      </p:grpSp>
      <p:sp>
        <p:nvSpPr>
          <p:cNvPr id="8" name="TextBox 50">
            <a:extLst>
              <a:ext uri="{FF2B5EF4-FFF2-40B4-BE49-F238E27FC236}">
                <a16:creationId xmlns:a16="http://schemas.microsoft.com/office/drawing/2014/main" id="{480E2D36-EE07-408D-9854-CC8FCFBFB7BC}"/>
              </a:ext>
            </a:extLst>
          </p:cNvPr>
          <p:cNvSpPr txBox="1"/>
          <p:nvPr/>
        </p:nvSpPr>
        <p:spPr>
          <a:xfrm>
            <a:off x="8967940" y="3916021"/>
            <a:ext cx="3147812" cy="1323439"/>
          </a:xfrm>
          <a:prstGeom prst="rect">
            <a:avLst/>
          </a:prstGeom>
          <a:noFill/>
        </p:spPr>
        <p:txBody>
          <a:bodyPr wrap="square" lIns="91440" tIns="45720" rIns="91440" bIns="45720" rtlCol="0" anchor="t">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sz="1600"/>
              <a:t>Adaptive modelling</a:t>
            </a:r>
            <a:endParaRPr lang="en-US" sz="1600">
              <a:cs typeface="Arial"/>
            </a:endParaRPr>
          </a:p>
          <a:p>
            <a:pPr marL="285750" indent="-285750">
              <a:buFont typeface="Arial" panose="020B0604020202020204" pitchFamily="34" charset="0"/>
              <a:buChar char="•"/>
            </a:pPr>
            <a:r>
              <a:rPr lang="en-US" sz="1600"/>
              <a:t>K-means clustering, adaptive number of GP modelling</a:t>
            </a:r>
            <a:endParaRPr lang="en-US" sz="1600">
              <a:cs typeface="Arial"/>
            </a:endParaRPr>
          </a:p>
          <a:p>
            <a:pPr marL="285750" indent="-285750">
              <a:buFont typeface="Arial" panose="020B0604020202020204" pitchFamily="34" charset="0"/>
              <a:buChar char="•"/>
            </a:pPr>
            <a:r>
              <a:rPr lang="en-US" sz="1600">
                <a:solidFill>
                  <a:srgbClr val="00B050"/>
                </a:solidFill>
              </a:rPr>
              <a:t>Reduced time consumption while maintain accuracy</a:t>
            </a:r>
            <a:endParaRPr lang="en-US" sz="1600">
              <a:solidFill>
                <a:srgbClr val="00B050"/>
              </a:solidFill>
              <a:cs typeface="Arial"/>
            </a:endParaRPr>
          </a:p>
        </p:txBody>
      </p:sp>
      <p:sp>
        <p:nvSpPr>
          <p:cNvPr id="3" name="Content Placeholder 2">
            <a:extLst>
              <a:ext uri="{FF2B5EF4-FFF2-40B4-BE49-F238E27FC236}">
                <a16:creationId xmlns:a16="http://schemas.microsoft.com/office/drawing/2014/main" id="{65B72D9A-A79C-6873-6424-0C1878695376}"/>
              </a:ext>
            </a:extLst>
          </p:cNvPr>
          <p:cNvSpPr>
            <a:spLocks noGrp="1"/>
          </p:cNvSpPr>
          <p:nvPr>
            <p:ph sz="half" idx="1"/>
          </p:nvPr>
        </p:nvSpPr>
        <p:spPr>
          <a:xfrm>
            <a:off x="707925" y="1598741"/>
            <a:ext cx="5488253" cy="4014855"/>
          </a:xfrm>
        </p:spPr>
        <p:txBody>
          <a:bodyPr vert="horz" lIns="91440" tIns="45720" rIns="91440" bIns="45720" rtlCol="0" anchor="t">
            <a:normAutofit/>
          </a:bodyPr>
          <a:lstStyle/>
          <a:p>
            <a:pPr marL="0" indent="0">
              <a:lnSpc>
                <a:spcPct val="150000"/>
              </a:lnSpc>
              <a:buNone/>
            </a:pPr>
            <a:r>
              <a:rPr lang="en-US" sz="2000">
                <a:latin typeface="Arial"/>
                <a:cs typeface="Arial"/>
              </a:rPr>
              <a:t>TR (</a:t>
            </a:r>
            <a:r>
              <a:rPr lang="en-US" sz="2000" u="sng">
                <a:latin typeface="Arial"/>
                <a:cs typeface="Arial"/>
              </a:rPr>
              <a:t>T</a:t>
            </a:r>
            <a:r>
              <a:rPr lang="en-US" sz="2000">
                <a:latin typeface="Arial"/>
                <a:cs typeface="Arial"/>
              </a:rPr>
              <a:t>raining-cost </a:t>
            </a:r>
            <a:r>
              <a:rPr lang="en-US" sz="2000" u="sng">
                <a:latin typeface="Arial"/>
                <a:cs typeface="Arial"/>
              </a:rPr>
              <a:t>R</a:t>
            </a:r>
            <a:r>
              <a:rPr lang="en-US" sz="2000">
                <a:latin typeface="Arial"/>
                <a:cs typeface="Arial"/>
              </a:rPr>
              <a:t>educed) – SADEA </a:t>
            </a:r>
            <a:endParaRPr lang="en-US" sz="2000"/>
          </a:p>
          <a:p>
            <a:r>
              <a:rPr lang="en-US" sz="2000"/>
              <a:t>Faster, while converging to a good solution</a:t>
            </a:r>
          </a:p>
          <a:p>
            <a:r>
              <a:rPr lang="en-US" sz="2000"/>
              <a:t>Adaptive Gaussian Process predictions</a:t>
            </a:r>
          </a:p>
          <a:p>
            <a:r>
              <a:rPr lang="en-US" sz="2000"/>
              <a:t>Handle up to 80 design variables</a:t>
            </a:r>
          </a:p>
          <a:p>
            <a:r>
              <a:rPr lang="en-US" sz="2000"/>
              <a:t>Enabled in apps and command line</a:t>
            </a:r>
          </a:p>
        </p:txBody>
      </p:sp>
      <p:pic>
        <p:nvPicPr>
          <p:cNvPr id="9" name="Picture 8">
            <a:extLst>
              <a:ext uri="{FF2B5EF4-FFF2-40B4-BE49-F238E27FC236}">
                <a16:creationId xmlns:a16="http://schemas.microsoft.com/office/drawing/2014/main" id="{02040408-1B50-87CE-160F-A34C11951230}"/>
              </a:ext>
            </a:extLst>
          </p:cNvPr>
          <p:cNvPicPr>
            <a:picLocks noChangeAspect="1"/>
          </p:cNvPicPr>
          <p:nvPr/>
        </p:nvPicPr>
        <p:blipFill>
          <a:blip r:embed="rId4"/>
          <a:stretch>
            <a:fillRect/>
          </a:stretch>
        </p:blipFill>
        <p:spPr>
          <a:xfrm>
            <a:off x="620908" y="4529054"/>
            <a:ext cx="1082431" cy="938107"/>
          </a:xfrm>
          <a:prstGeom prst="rect">
            <a:avLst/>
          </a:prstGeom>
        </p:spPr>
      </p:pic>
      <p:pic>
        <p:nvPicPr>
          <p:cNvPr id="11" name="Picture 10">
            <a:extLst>
              <a:ext uri="{FF2B5EF4-FFF2-40B4-BE49-F238E27FC236}">
                <a16:creationId xmlns:a16="http://schemas.microsoft.com/office/drawing/2014/main" id="{428CF560-6BD6-774E-A3FE-879DBF82E6F3}"/>
              </a:ext>
            </a:extLst>
          </p:cNvPr>
          <p:cNvPicPr>
            <a:picLocks noChangeAspect="1"/>
          </p:cNvPicPr>
          <p:nvPr/>
        </p:nvPicPr>
        <p:blipFill rotWithShape="1">
          <a:blip r:embed="rId5"/>
          <a:srcRect l="46752" t="6449" b="4795"/>
          <a:stretch/>
        </p:blipFill>
        <p:spPr>
          <a:xfrm>
            <a:off x="1467187" y="4055609"/>
            <a:ext cx="1157431" cy="798311"/>
          </a:xfrm>
          <a:prstGeom prst="rect">
            <a:avLst/>
          </a:prstGeom>
        </p:spPr>
      </p:pic>
      <p:pic>
        <p:nvPicPr>
          <p:cNvPr id="12" name="Picture 11">
            <a:extLst>
              <a:ext uri="{FF2B5EF4-FFF2-40B4-BE49-F238E27FC236}">
                <a16:creationId xmlns:a16="http://schemas.microsoft.com/office/drawing/2014/main" id="{76120E18-E108-1B3F-E1F1-56DEFF710A70}"/>
              </a:ext>
            </a:extLst>
          </p:cNvPr>
          <p:cNvPicPr>
            <a:picLocks noChangeAspect="1"/>
          </p:cNvPicPr>
          <p:nvPr/>
        </p:nvPicPr>
        <p:blipFill>
          <a:blip r:embed="rId6"/>
          <a:stretch>
            <a:fillRect/>
          </a:stretch>
        </p:blipFill>
        <p:spPr>
          <a:xfrm>
            <a:off x="1595563" y="5024355"/>
            <a:ext cx="1056990" cy="863638"/>
          </a:xfrm>
          <a:prstGeom prst="rect">
            <a:avLst/>
          </a:prstGeom>
        </p:spPr>
      </p:pic>
      <p:pic>
        <p:nvPicPr>
          <p:cNvPr id="1026" name="Picture 2">
            <a:extLst>
              <a:ext uri="{FF2B5EF4-FFF2-40B4-BE49-F238E27FC236}">
                <a16:creationId xmlns:a16="http://schemas.microsoft.com/office/drawing/2014/main" id="{AA5DC3DB-FA82-72F2-182D-6B79D044C550}"/>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5195289" y="3896882"/>
            <a:ext cx="3658204" cy="2831377"/>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a:extLst>
              <a:ext uri="{FF2B5EF4-FFF2-40B4-BE49-F238E27FC236}">
                <a16:creationId xmlns:a16="http://schemas.microsoft.com/office/drawing/2014/main" id="{7B9361EE-9B0C-92F0-EBE5-779749E4BCE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8979547" y="3837122"/>
            <a:ext cx="3095625" cy="2762250"/>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F2CD55E8-6065-958C-20CE-AA5C2FDE0535}"/>
              </a:ext>
            </a:extLst>
          </p:cNvPr>
          <p:cNvSpPr txBox="1"/>
          <p:nvPr/>
        </p:nvSpPr>
        <p:spPr>
          <a:xfrm>
            <a:off x="7760119" y="3421623"/>
            <a:ext cx="1056700" cy="400110"/>
          </a:xfrm>
          <a:prstGeom prst="rect">
            <a:avLst/>
          </a:prstGeom>
          <a:noFill/>
        </p:spPr>
        <p:txBody>
          <a:bodyPr wrap="none" rtlCol="0">
            <a:spAutoFit/>
          </a:bodyPr>
          <a:lstStyle/>
          <a:p>
            <a:r>
              <a:rPr lang="en-US" sz="2000">
                <a:latin typeface="Arial" pitchFamily="34" charset="0"/>
                <a:cs typeface="Arial" pitchFamily="34" charset="0"/>
              </a:rPr>
              <a:t>SADEA</a:t>
            </a:r>
            <a:endParaRPr lang="LID4096" sz="2000">
              <a:latin typeface="Arial" pitchFamily="34" charset="0"/>
              <a:cs typeface="Arial" pitchFamily="34" charset="0"/>
            </a:endParaRPr>
          </a:p>
        </p:txBody>
      </p:sp>
      <p:sp>
        <p:nvSpPr>
          <p:cNvPr id="14" name="TextBox 13">
            <a:extLst>
              <a:ext uri="{FF2B5EF4-FFF2-40B4-BE49-F238E27FC236}">
                <a16:creationId xmlns:a16="http://schemas.microsoft.com/office/drawing/2014/main" id="{46E153F9-72AD-25BA-E6F1-93BFEBC542EA}"/>
              </a:ext>
            </a:extLst>
          </p:cNvPr>
          <p:cNvSpPr txBox="1"/>
          <p:nvPr/>
        </p:nvSpPr>
        <p:spPr>
          <a:xfrm>
            <a:off x="10213816" y="3429000"/>
            <a:ext cx="1484702" cy="400110"/>
          </a:xfrm>
          <a:prstGeom prst="rect">
            <a:avLst/>
          </a:prstGeom>
          <a:noFill/>
        </p:spPr>
        <p:txBody>
          <a:bodyPr wrap="none" rtlCol="0">
            <a:spAutoFit/>
          </a:bodyPr>
          <a:lstStyle/>
          <a:p>
            <a:r>
              <a:rPr lang="en-US" sz="2000">
                <a:latin typeface="Arial" pitchFamily="34" charset="0"/>
                <a:cs typeface="Arial" pitchFamily="34" charset="0"/>
              </a:rPr>
              <a:t>TR-SADEA</a:t>
            </a:r>
            <a:endParaRPr lang="LID4096" sz="2000">
              <a:latin typeface="Arial" pitchFamily="34" charset="0"/>
              <a:cs typeface="Arial" pitchFamily="34" charset="0"/>
            </a:endParaRPr>
          </a:p>
        </p:txBody>
      </p:sp>
    </p:spTree>
    <p:extLst>
      <p:ext uri="{BB962C8B-B14F-4D97-AF65-F5344CB8AC3E}">
        <p14:creationId xmlns:p14="http://schemas.microsoft.com/office/powerpoint/2010/main" val="29829159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1026"/>
                                        </p:tgtEl>
                                        <p:attrNameLst>
                                          <p:attrName>style.visibility</p:attrName>
                                        </p:attrNameLst>
                                      </p:cBhvr>
                                      <p:to>
                                        <p:strVal val="hidden"/>
                                      </p:to>
                                    </p:set>
                                  </p:childTnLst>
                                </p:cTn>
                              </p:par>
                              <p:par>
                                <p:cTn id="7" presetID="1" presetClass="exit" presetSubtype="0" fill="hold" nodeType="withEffect">
                                  <p:stCondLst>
                                    <p:cond delay="0"/>
                                  </p:stCondLst>
                                  <p:childTnLst>
                                    <p:set>
                                      <p:cBhvr>
                                        <p:cTn id="8" dur="1" fill="hold">
                                          <p:stCondLst>
                                            <p:cond delay="0"/>
                                          </p:stCondLst>
                                        </p:cTn>
                                        <p:tgtEl>
                                          <p:spTgt spid="102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B35E27-2177-D11D-15DA-A5C66D8A6CC4}"/>
              </a:ext>
            </a:extLst>
          </p:cNvPr>
          <p:cNvSpPr>
            <a:spLocks noGrp="1"/>
          </p:cNvSpPr>
          <p:nvPr>
            <p:ph type="title"/>
          </p:nvPr>
        </p:nvSpPr>
        <p:spPr/>
        <p:txBody>
          <a:bodyPr/>
          <a:lstStyle/>
          <a:p>
            <a:r>
              <a:rPr lang="en-US"/>
              <a:t>Antenna Optimization - Summary</a:t>
            </a:r>
            <a:endParaRPr lang="LID4096"/>
          </a:p>
        </p:txBody>
      </p:sp>
      <p:sp>
        <p:nvSpPr>
          <p:cNvPr id="3" name="Content Placeholder 2">
            <a:extLst>
              <a:ext uri="{FF2B5EF4-FFF2-40B4-BE49-F238E27FC236}">
                <a16:creationId xmlns:a16="http://schemas.microsoft.com/office/drawing/2014/main" id="{8A065A1A-FEF9-52A5-7ACA-F688F324C77D}"/>
              </a:ext>
            </a:extLst>
          </p:cNvPr>
          <p:cNvSpPr>
            <a:spLocks noGrp="1"/>
          </p:cNvSpPr>
          <p:nvPr>
            <p:ph idx="1"/>
          </p:nvPr>
        </p:nvSpPr>
        <p:spPr/>
        <p:txBody>
          <a:bodyPr/>
          <a:lstStyle/>
          <a:p>
            <a:r>
              <a:rPr lang="en-US" sz="2000" dirty="0"/>
              <a:t>Standard objective functions available in the apps</a:t>
            </a:r>
          </a:p>
          <a:p>
            <a:pPr lvl="1"/>
            <a:r>
              <a:rPr lang="en-US" dirty="0"/>
              <a:t>SADEA, TR-SADEA, Surrogate optimization </a:t>
            </a:r>
          </a:p>
          <a:p>
            <a:pPr lvl="1"/>
            <a:r>
              <a:rPr lang="en-US" sz="2000" dirty="0"/>
              <a:t>Support for geometric constraints and integration with RF PCB Toolbox</a:t>
            </a:r>
          </a:p>
          <a:p>
            <a:r>
              <a:rPr lang="en-US" sz="2000" dirty="0"/>
              <a:t>Custom objective functions can be defined at the command line</a:t>
            </a:r>
          </a:p>
          <a:p>
            <a:pPr lvl="1"/>
            <a:r>
              <a:rPr lang="en-US" dirty="0"/>
              <a:t>Interface for SADEA and TR-SADEA available	</a:t>
            </a:r>
          </a:p>
          <a:p>
            <a:pPr lvl="1"/>
            <a:r>
              <a:rPr lang="en-US" dirty="0"/>
              <a:t>Can be used with 3</a:t>
            </a:r>
            <a:r>
              <a:rPr lang="en-US" baseline="30000" dirty="0"/>
              <a:t>rd</a:t>
            </a:r>
            <a:r>
              <a:rPr lang="en-US" dirty="0"/>
              <a:t> party EM tools</a:t>
            </a:r>
            <a:endParaRPr lang="LID4096" dirty="0"/>
          </a:p>
        </p:txBody>
      </p:sp>
      <p:pic>
        <p:nvPicPr>
          <p:cNvPr id="5" name="Picture 4">
            <a:extLst>
              <a:ext uri="{FF2B5EF4-FFF2-40B4-BE49-F238E27FC236}">
                <a16:creationId xmlns:a16="http://schemas.microsoft.com/office/drawing/2014/main" id="{EF109029-08B5-8C74-C694-12FBAE6C9006}"/>
              </a:ext>
            </a:extLst>
          </p:cNvPr>
          <p:cNvPicPr>
            <a:picLocks noChangeAspect="1"/>
          </p:cNvPicPr>
          <p:nvPr/>
        </p:nvPicPr>
        <p:blipFill>
          <a:blip r:embed="rId3"/>
          <a:stretch>
            <a:fillRect/>
          </a:stretch>
        </p:blipFill>
        <p:spPr>
          <a:xfrm>
            <a:off x="524042" y="3924300"/>
            <a:ext cx="6031832" cy="2566872"/>
          </a:xfrm>
          <a:prstGeom prst="rect">
            <a:avLst/>
          </a:prstGeom>
        </p:spPr>
      </p:pic>
      <p:pic>
        <p:nvPicPr>
          <p:cNvPr id="6" name="Picture 5">
            <a:extLst>
              <a:ext uri="{FF2B5EF4-FFF2-40B4-BE49-F238E27FC236}">
                <a16:creationId xmlns:a16="http://schemas.microsoft.com/office/drawing/2014/main" id="{01C135A5-A2ED-F8CE-9BB3-98948D9AAC4D}"/>
              </a:ext>
            </a:extLst>
          </p:cNvPr>
          <p:cNvPicPr>
            <a:picLocks noChangeAspect="1"/>
          </p:cNvPicPr>
          <p:nvPr/>
        </p:nvPicPr>
        <p:blipFill>
          <a:blip r:embed="rId4"/>
          <a:stretch>
            <a:fillRect/>
          </a:stretch>
        </p:blipFill>
        <p:spPr>
          <a:xfrm>
            <a:off x="4742055" y="5402071"/>
            <a:ext cx="5797607" cy="1177742"/>
          </a:xfrm>
          <a:prstGeom prst="rect">
            <a:avLst/>
          </a:prstGeom>
        </p:spPr>
      </p:pic>
      <p:pic>
        <p:nvPicPr>
          <p:cNvPr id="7" name="Picture 6">
            <a:extLst>
              <a:ext uri="{FF2B5EF4-FFF2-40B4-BE49-F238E27FC236}">
                <a16:creationId xmlns:a16="http://schemas.microsoft.com/office/drawing/2014/main" id="{7E4F83DE-515D-01C2-3C78-616B7FC5FE86}"/>
              </a:ext>
            </a:extLst>
          </p:cNvPr>
          <p:cNvPicPr>
            <a:picLocks noChangeAspect="1"/>
          </p:cNvPicPr>
          <p:nvPr/>
        </p:nvPicPr>
        <p:blipFill>
          <a:blip r:embed="rId5"/>
          <a:stretch>
            <a:fillRect/>
          </a:stretch>
        </p:blipFill>
        <p:spPr>
          <a:xfrm>
            <a:off x="9914635" y="983749"/>
            <a:ext cx="1082431" cy="938107"/>
          </a:xfrm>
          <a:prstGeom prst="rect">
            <a:avLst/>
          </a:prstGeom>
        </p:spPr>
      </p:pic>
      <p:pic>
        <p:nvPicPr>
          <p:cNvPr id="8" name="Picture 7">
            <a:extLst>
              <a:ext uri="{FF2B5EF4-FFF2-40B4-BE49-F238E27FC236}">
                <a16:creationId xmlns:a16="http://schemas.microsoft.com/office/drawing/2014/main" id="{66A39942-1B98-7B10-D80B-936A8C8F7D89}"/>
              </a:ext>
            </a:extLst>
          </p:cNvPr>
          <p:cNvPicPr>
            <a:picLocks noChangeAspect="1"/>
          </p:cNvPicPr>
          <p:nvPr/>
        </p:nvPicPr>
        <p:blipFill rotWithShape="1">
          <a:blip r:embed="rId6"/>
          <a:srcRect l="46752" t="6449" b="4795"/>
          <a:stretch/>
        </p:blipFill>
        <p:spPr>
          <a:xfrm>
            <a:off x="10760914" y="510304"/>
            <a:ext cx="1157431" cy="798311"/>
          </a:xfrm>
          <a:prstGeom prst="rect">
            <a:avLst/>
          </a:prstGeom>
        </p:spPr>
      </p:pic>
      <p:pic>
        <p:nvPicPr>
          <p:cNvPr id="9" name="Picture 8">
            <a:extLst>
              <a:ext uri="{FF2B5EF4-FFF2-40B4-BE49-F238E27FC236}">
                <a16:creationId xmlns:a16="http://schemas.microsoft.com/office/drawing/2014/main" id="{23265B3F-D39A-2E3E-5385-C32A5002E6DC}"/>
              </a:ext>
            </a:extLst>
          </p:cNvPr>
          <p:cNvPicPr>
            <a:picLocks noChangeAspect="1"/>
          </p:cNvPicPr>
          <p:nvPr/>
        </p:nvPicPr>
        <p:blipFill>
          <a:blip r:embed="rId7"/>
          <a:stretch>
            <a:fillRect/>
          </a:stretch>
        </p:blipFill>
        <p:spPr>
          <a:xfrm>
            <a:off x="10889290" y="1479050"/>
            <a:ext cx="1056990" cy="863638"/>
          </a:xfrm>
          <a:prstGeom prst="rect">
            <a:avLst/>
          </a:prstGeom>
        </p:spPr>
      </p:pic>
    </p:spTree>
    <p:extLst>
      <p:ext uri="{BB962C8B-B14F-4D97-AF65-F5344CB8AC3E}">
        <p14:creationId xmlns:p14="http://schemas.microsoft.com/office/powerpoint/2010/main" val="2402447126"/>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RS_CLASSIFICATION" val=" "/>
</p:tagLst>
</file>

<file path=ppt/theme/theme1.xml><?xml version="1.0" encoding="utf-8"?>
<a:theme xmlns:a="http://schemas.openxmlformats.org/drawingml/2006/main" name="MW_Public_widescreen">
  <a:themeElements>
    <a:clrScheme name="MW">
      <a:dk1>
        <a:srgbClr val="000000"/>
      </a:dk1>
      <a:lt1>
        <a:srgbClr val="FFFFFF"/>
      </a:lt1>
      <a:dk2>
        <a:srgbClr val="0076A8"/>
      </a:dk2>
      <a:lt2>
        <a:srgbClr val="ECF5F8"/>
      </a:lt2>
      <a:accent1>
        <a:srgbClr val="D78824"/>
      </a:accent1>
      <a:accent2>
        <a:srgbClr val="004B87"/>
      </a:accent2>
      <a:accent3>
        <a:srgbClr val="00A9E0"/>
      </a:accent3>
      <a:accent4>
        <a:srgbClr val="F2A900"/>
      </a:accent4>
      <a:accent5>
        <a:srgbClr val="B7302C"/>
      </a:accent5>
      <a:accent6>
        <a:srgbClr val="48A23F"/>
      </a:accent6>
      <a:hlink>
        <a:srgbClr val="0000FF"/>
      </a:hlink>
      <a:folHlink>
        <a:srgbClr val="800080"/>
      </a:folHlink>
    </a:clrScheme>
    <a:fontScheme name="Office Classic 2">
      <a:maj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Arial"/>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tlCol="0" anchor="ctr"/>
      <a:lstStyle>
        <a:defPPr algn="ctr">
          <a:defRPr b="1" dirty="0" smtClean="0">
            <a:latin typeface="Arial" pitchFamily="34" charset="0"/>
            <a:cs typeface="Arial" pitchFamily="34" charset="0"/>
          </a:defRPr>
        </a:defPPr>
      </a:lstStyle>
      <a:style>
        <a:lnRef idx="2">
          <a:schemeClr val="accent1">
            <a:shade val="50000"/>
          </a:schemeClr>
        </a:lnRef>
        <a:fillRef idx="1">
          <a:schemeClr val="accent1"/>
        </a:fillRef>
        <a:effectRef idx="0">
          <a:schemeClr val="accent1"/>
        </a:effectRef>
        <a:fontRef idx="minor">
          <a:schemeClr val="lt1"/>
        </a:fontRef>
      </a:style>
    </a:spDef>
    <a:lnDef>
      <a:spPr>
        <a:ln w="9525">
          <a:solidFill>
            <a:schemeClr val="accent5">
              <a:lumMod val="75000"/>
            </a:schemeClr>
          </a:solidFill>
        </a:ln>
      </a:spPr>
      <a:bodyPr/>
      <a:lstStyle/>
      <a:style>
        <a:lnRef idx="1">
          <a:schemeClr val="accent1"/>
        </a:lnRef>
        <a:fillRef idx="0">
          <a:schemeClr val="accent1"/>
        </a:fillRef>
        <a:effectRef idx="0">
          <a:schemeClr val="accent1"/>
        </a:effectRef>
        <a:fontRef idx="minor">
          <a:schemeClr val="tx1"/>
        </a:fontRef>
      </a:style>
    </a:lnDef>
    <a:txDef>
      <a:spPr>
        <a:noFill/>
      </a:spPr>
      <a:bodyPr wrap="square" rtlCol="0">
        <a:spAutoFit/>
      </a:bodyPr>
      <a:lstStyle>
        <a:defPPr>
          <a:defRPr sz="2000" dirty="0">
            <a:latin typeface="Arial" pitchFamily="34" charset="0"/>
            <a:cs typeface="Arial" pitchFamily="34" charset="0"/>
          </a:defRPr>
        </a:defPPr>
      </a:lstStyle>
    </a:txDef>
  </a:objectDefaults>
  <a:extraClrSchemeLst/>
  <a:extLst>
    <a:ext uri="{05A4C25C-085E-4340-85A3-A5531E510DB2}">
      <thm15:themeFamily xmlns:thm15="http://schemas.microsoft.com/office/thememl/2012/main" name="mw_public" id="{59CF0C3A-1374-FF4F-BC13-83D96775E065}" vid="{E2E3060B-D3CD-9E44-A667-975AC4DDCA7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E8BDF109259C3742B70118398EA662DF" ma:contentTypeVersion="4" ma:contentTypeDescription="Create a new document." ma:contentTypeScope="" ma:versionID="685566423c5dd230aba5d55ba4d04239">
  <xsd:schema xmlns:xsd="http://www.w3.org/2001/XMLSchema" xmlns:xs="http://www.w3.org/2001/XMLSchema" xmlns:p="http://schemas.microsoft.com/office/2006/metadata/properties" xmlns:ns2="c0427815-c159-405c-a9c3-9204bd95a48e" targetNamespace="http://schemas.microsoft.com/office/2006/metadata/properties" ma:root="true" ma:fieldsID="db0a9b8f4106c642c10fea28b3543bf4" ns2:_="">
    <xsd:import namespace="c0427815-c159-405c-a9c3-9204bd95a48e"/>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c0427815-c159-405c-a9c3-9204bd95a48e"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1"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3B61DF2E-245C-45DF-A9A5-EABECEA4295F}">
  <ds:schemaRefs>
    <ds:schemaRef ds:uri="http://schemas.microsoft.com/sharepoint/v3/contenttype/forms"/>
  </ds:schemaRefs>
</ds:datastoreItem>
</file>

<file path=customXml/itemProps2.xml><?xml version="1.0" encoding="utf-8"?>
<ds:datastoreItem xmlns:ds="http://schemas.openxmlformats.org/officeDocument/2006/customXml" ds:itemID="{73B851B7-D313-4E85-A1E0-5976CFE11EC3}">
  <ds:schemaRefs>
    <ds:schemaRef ds:uri="http://schemas.microsoft.com/office/2006/metadata/properties"/>
    <ds:schemaRef ds:uri="http://schemas.microsoft.com/sharepoint/v3"/>
    <ds:schemaRef ds:uri="a70944c9-f5be-4b0f-89c7-00caf47c665c"/>
    <ds:schemaRef ds:uri="http://purl.org/dc/dcmitype/"/>
    <ds:schemaRef ds:uri="http://www.w3.org/XML/1998/namespace"/>
    <ds:schemaRef ds:uri="19f94994-4311-4823-a682-47492cb9e3e3"/>
    <ds:schemaRef ds:uri="http://purl.org/dc/terms/"/>
    <ds:schemaRef ds:uri="http://schemas.microsoft.com/office/2006/documentManagement/types"/>
    <ds:schemaRef ds:uri="http://purl.org/dc/elements/1.1/"/>
    <ds:schemaRef ds:uri="http://schemas.microsoft.com/office/infopath/2007/PartnerControls"/>
    <ds:schemaRef ds:uri="http://schemas.openxmlformats.org/package/2006/metadata/core-properties"/>
  </ds:schemaRefs>
</ds:datastoreItem>
</file>

<file path=customXml/itemProps3.xml><?xml version="1.0" encoding="utf-8"?>
<ds:datastoreItem xmlns:ds="http://schemas.openxmlformats.org/officeDocument/2006/customXml" ds:itemID="{A130D810-BCBB-473F-88F7-D071E062A6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c0427815-c159-405c-a9c3-9204bd95a48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clbl:label id="{99dd3a11-4348-4468-9bdd-e5072b1dc1e6}" enabled="0" method="" siteId="{99dd3a11-4348-4468-9bdd-e5072b1dc1e6}" removed="1"/>
</clbl:labelList>
</file>

<file path=docProps/app.xml><?xml version="1.0" encoding="utf-8"?>
<Properties xmlns="http://schemas.openxmlformats.org/officeDocument/2006/extended-properties" xmlns:vt="http://schemas.openxmlformats.org/officeDocument/2006/docPropsVTypes">
  <Template>MathWorks Public PowerPoint Template</Template>
  <TotalTime>583</TotalTime>
  <Words>1127</Words>
  <Application>Microsoft Office PowerPoint</Application>
  <PresentationFormat>Widescreen</PresentationFormat>
  <Paragraphs>117</Paragraphs>
  <Slides>9</Slides>
  <Notes>6</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9</vt:i4>
      </vt:variant>
    </vt:vector>
  </HeadingPairs>
  <TitlesOfParts>
    <vt:vector size="19" baseType="lpstr">
      <vt:lpstr>__Inter_aaf875</vt:lpstr>
      <vt:lpstr>Arial</vt:lpstr>
      <vt:lpstr>Calibri</vt:lpstr>
      <vt:lpstr>Cambria Math</vt:lpstr>
      <vt:lpstr>Courier New</vt:lpstr>
      <vt:lpstr>Helvetica</vt:lpstr>
      <vt:lpstr>Roboto</vt:lpstr>
      <vt:lpstr>STIXGeneral</vt:lpstr>
      <vt:lpstr>Wingdings</vt:lpstr>
      <vt:lpstr>MW_Public_widescreen</vt:lpstr>
      <vt:lpstr>PowerPoint Presentation</vt:lpstr>
      <vt:lpstr>PowerPoint Presentation</vt:lpstr>
      <vt:lpstr>PowerPoint Presentation</vt:lpstr>
      <vt:lpstr>Surrogate-Based Optimization Collaboration with Prof. Bo Liu, Univ. Glasgow</vt:lpstr>
      <vt:lpstr>SADEA: Yagi-Uda Optimization Example</vt:lpstr>
      <vt:lpstr>Optimization Exercise </vt:lpstr>
      <vt:lpstr>Antenna Workflow #3: Optimization with (better) AI</vt:lpstr>
      <vt:lpstr>AI for Surrogate Based Optimization </vt:lpstr>
      <vt:lpstr>Antenna Optimization - Summary</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Sekhar Sekharan</dc:creator>
  <cp:keywords>Version 26.0</cp:keywords>
  <dc:description/>
  <cp:lastModifiedBy>Sekhar Sekharan</cp:lastModifiedBy>
  <cp:revision>1</cp:revision>
  <dcterms:created xsi:type="dcterms:W3CDTF">2026-07-10T03:53:21Z</dcterms:created>
  <dcterms:modified xsi:type="dcterms:W3CDTF">2026-07-12T11:28:35Z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AdHocReviewCycleID">
    <vt:i4>441712758</vt:i4>
  </property>
  <property fmtid="{D5CDD505-2E9C-101B-9397-08002B2CF9AE}" pid="3" name="_NewReviewCycle">
    <vt:lpwstr/>
  </property>
  <property fmtid="{D5CDD505-2E9C-101B-9397-08002B2CF9AE}" pid="4" name="_EmailSubject">
    <vt:lpwstr>Quick PPT question</vt:lpwstr>
  </property>
  <property fmtid="{D5CDD505-2E9C-101B-9397-08002B2CF9AE}" pid="5" name="_AuthorEmail">
    <vt:lpwstr>Julie.Cornell@mathworks.com</vt:lpwstr>
  </property>
  <property fmtid="{D5CDD505-2E9C-101B-9397-08002B2CF9AE}" pid="6" name="_AuthorEmailDisplayName">
    <vt:lpwstr>Julie Cornell</vt:lpwstr>
  </property>
  <property fmtid="{D5CDD505-2E9C-101B-9397-08002B2CF9AE}" pid="7" name="ContentTypeId">
    <vt:lpwstr>0x010100E8BDF109259C3742B70118398EA662DF</vt:lpwstr>
  </property>
  <property fmtid="{D5CDD505-2E9C-101B-9397-08002B2CF9AE}" pid="8" name="Order">
    <vt:r8>47491500</vt:r8>
  </property>
  <property fmtid="{D5CDD505-2E9C-101B-9397-08002B2CF9AE}" pid="9" name="xd_Signature">
    <vt:bool>false</vt:bool>
  </property>
  <property fmtid="{D5CDD505-2E9C-101B-9397-08002B2CF9AE}" pid="10" name="xd_ProgID">
    <vt:lpwstr/>
  </property>
  <property fmtid="{D5CDD505-2E9C-101B-9397-08002B2CF9AE}" pid="11" name="ComplianceAssetId">
    <vt:lpwstr/>
  </property>
  <property fmtid="{D5CDD505-2E9C-101B-9397-08002B2CF9AE}" pid="12" name="TemplateUrl">
    <vt:lpwstr/>
  </property>
  <property fmtid="{D5CDD505-2E9C-101B-9397-08002B2CF9AE}" pid="13" name="MediaServiceImageTags">
    <vt:lpwstr/>
  </property>
</Properties>
</file>